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3" r:id="rId10"/>
    <p:sldId id="264" r:id="rId11"/>
    <p:sldId id="265" r:id="rId12"/>
    <p:sldId id="278" r:id="rId13"/>
    <p:sldId id="266" r:id="rId14"/>
    <p:sldId id="277" r:id="rId15"/>
    <p:sldId id="267" r:id="rId16"/>
    <p:sldId id="268" r:id="rId17"/>
    <p:sldId id="269" r:id="rId18"/>
    <p:sldId id="270" r:id="rId19"/>
    <p:sldId id="271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91" y="5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09136-7CDC-4626-B387-357882A461D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966FB-09C6-432D-905F-A1304A75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491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7013" y="1524000"/>
            <a:ext cx="7312026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练习使用参数化模板，</a:t>
            </a:r>
            <a:r>
              <a:rPr lang="en-US" altLang="zh-CN"/>
              <a:t>Python</a:t>
            </a:r>
            <a:r>
              <a:rPr lang="zh-CN" altLang="en-US"/>
              <a:t>使用整数或</a:t>
            </a:r>
            <a:r>
              <a:rPr lang="en-US" altLang="zh-CN"/>
              <a:t>Fraction</a:t>
            </a:r>
            <a:r>
              <a:rPr lang="zh-CN" altLang="en-US"/>
              <a:t>计算标准答案。作答后展示参考答案和思路，刷新后从数据库恢复结果，不重复计分。截图为隔离演示数据。</a:t>
            </a:r>
          </a:p>
        </p:txBody>
      </p:sp>
    </p:spTree>
    <p:extLst>
      <p:ext uri="{BB962C8B-B14F-4D97-AF65-F5344CB8AC3E}">
        <p14:creationId xmlns:p14="http://schemas.microsoft.com/office/powerpoint/2010/main" val="1112803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实现采用</a:t>
            </a:r>
            <a:r>
              <a:rPr lang="en-US" altLang="zh-CN"/>
              <a:t>zlib</a:t>
            </a:r>
            <a:r>
              <a:rPr lang="zh-CN" altLang="en-US"/>
              <a:t>级别</a:t>
            </a:r>
            <a:r>
              <a:rPr lang="en-US" altLang="zh-CN"/>
              <a:t>6</a:t>
            </a:r>
            <a:r>
              <a:rPr lang="zh-CN" altLang="en-US"/>
              <a:t>。对话</a:t>
            </a:r>
            <a:r>
              <a:rPr lang="en-US" altLang="zh-CN"/>
              <a:t>JSON</a:t>
            </a:r>
            <a:r>
              <a:rPr lang="zh-CN" altLang="en-US"/>
              <a:t>编码为</a:t>
            </a:r>
            <a:r>
              <a:rPr lang="en-US" altLang="zh-CN"/>
              <a:t>UTF-8</a:t>
            </a:r>
            <a:r>
              <a:rPr lang="zh-CN" altLang="en-US"/>
              <a:t>，压缩结果加</a:t>
            </a:r>
            <a:r>
              <a:rPr lang="en-US" altLang="zh-CN"/>
              <a:t>MGZ1</a:t>
            </a:r>
            <a:r>
              <a:rPr lang="zh-CN" altLang="en-US"/>
              <a:t>版本前缀，只有比原文更小时以</a:t>
            </a:r>
            <a:r>
              <a:rPr lang="en-US" altLang="zh-CN"/>
              <a:t>SQLite BLOB</a:t>
            </a:r>
            <a:r>
              <a:rPr lang="zh-CN" altLang="en-US"/>
              <a:t>保存，否则保持</a:t>
            </a:r>
            <a:r>
              <a:rPr lang="en-US" altLang="zh-CN"/>
              <a:t>TEXT</a:t>
            </a:r>
            <a:r>
              <a:rPr lang="zh-CN" altLang="en-US"/>
              <a:t>。旧</a:t>
            </a:r>
            <a:r>
              <a:rPr lang="en-US" altLang="zh-CN"/>
              <a:t>TEXT</a:t>
            </a:r>
            <a:r>
              <a:rPr lang="zh-CN" altLang="en-US"/>
              <a:t>不重写，查询透明解压。日期与题型联合索引，薄弱点统计直接聚合结构字段，无需解压。当前历史接口解压全部匹配记录，尚无分页，不声称只打开详情才解压。会话快照仍是</a:t>
            </a:r>
            <a:r>
              <a:rPr lang="en-US" altLang="zh-CN"/>
              <a:t>JSON</a:t>
            </a:r>
            <a:r>
              <a:rPr lang="zh-CN" altLang="en-US"/>
              <a:t>文件。压缩不是加密，不承诺固定压缩率或数据库整体立即缩小。依据</a:t>
            </a:r>
            <a:r>
              <a:rPr lang="en-US" altLang="zh-CN"/>
              <a:t>db.py</a:t>
            </a:r>
            <a:r>
              <a:rPr lang="zh-CN" altLang="en-US"/>
              <a:t>、</a:t>
            </a:r>
            <a:r>
              <a:rPr lang="en-US" altLang="zh-CN"/>
              <a:t>docs/storage-design.md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06171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用长</a:t>
            </a:r>
            <a:r>
              <a:rPr lang="en-US" altLang="zh-CN"/>
              <a:t>8</a:t>
            </a:r>
            <a:r>
              <a:rPr lang="zh-CN" altLang="en-US"/>
              <a:t>厘米、宽</a:t>
            </a:r>
            <a:r>
              <a:rPr lang="en-US" altLang="zh-CN"/>
              <a:t>5</a:t>
            </a:r>
            <a:r>
              <a:rPr lang="zh-CN" altLang="en-US"/>
              <a:t>厘米求面积为例：模型接收题干和编号目录，选择</a:t>
            </a:r>
            <a:r>
              <a:rPr lang="en-US" altLang="zh-CN"/>
              <a:t>12</a:t>
            </a:r>
            <a:r>
              <a:rPr lang="zh-CN" altLang="en-US"/>
              <a:t>号长方形面积，</a:t>
            </a:r>
            <a:r>
              <a:rPr lang="en-US" altLang="zh-CN"/>
              <a:t>Python</a:t>
            </a:r>
            <a:r>
              <a:rPr lang="zh-CN" altLang="en-US"/>
              <a:t>按整数主键</a:t>
            </a:r>
            <a:r>
              <a:rPr lang="en-US" altLang="zh-CN"/>
              <a:t>WHERE id=?</a:t>
            </a:r>
            <a:r>
              <a:rPr lang="zh-CN" altLang="en-US"/>
              <a:t>取回面积</a:t>
            </a:r>
            <a:r>
              <a:rPr lang="en-US" altLang="zh-CN"/>
              <a:t>=</a:t>
            </a:r>
            <a:r>
              <a:rPr lang="zh-CN" altLang="en-US"/>
              <a:t>长</a:t>
            </a:r>
            <a:r>
              <a:rPr lang="en-US" altLang="zh-CN"/>
              <a:t>×</a:t>
            </a:r>
            <a:r>
              <a:rPr lang="zh-CN" altLang="en-US"/>
              <a:t>宽及易错提示，再注入辅导提示词。模型不直接连接数据库。若</a:t>
            </a:r>
            <a:r>
              <a:rPr lang="en-US" altLang="zh-CN"/>
              <a:t>ID</a:t>
            </a:r>
            <a:r>
              <a:rPr lang="zh-CN" altLang="en-US"/>
              <a:t>查询失败且有原始名称，程序依次使用别名精确匹配、别名包含和标准名称包含匹配。合法但错误的</a:t>
            </a:r>
            <a:r>
              <a:rPr lang="en-US" altLang="zh-CN"/>
              <a:t>ID</a:t>
            </a:r>
            <a:r>
              <a:rPr lang="zh-CN" altLang="en-US"/>
              <a:t>仍需单独检验，目录和主键查找并不等于模型整体延迟已测量。下方为公式库数据摘录。依据：</a:t>
            </a:r>
            <a:r>
              <a:rPr lang="en-US" altLang="zh-CN"/>
              <a:t>knowledge.py</a:t>
            </a:r>
            <a:r>
              <a:rPr lang="zh-CN" altLang="en-US"/>
              <a:t>、</a:t>
            </a:r>
            <a:r>
              <a:rPr lang="en-US" altLang="zh-CN"/>
              <a:t>db.py</a:t>
            </a:r>
            <a:r>
              <a:rPr lang="zh-CN" altLang="en-US"/>
              <a:t>、</a:t>
            </a:r>
            <a:r>
              <a:rPr lang="en-US" altLang="zh-CN"/>
              <a:t>prompts.py</a:t>
            </a:r>
            <a:r>
              <a:rPr lang="zh-CN" altLang="en-US"/>
              <a:t>、</a:t>
            </a:r>
            <a:r>
              <a:rPr lang="en-US" altLang="zh-CN"/>
              <a:t>data/formulas.json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57393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29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324" y="1600200"/>
            <a:ext cx="5357285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 dirty="0" err="1">
                <a:solidFill>
                  <a:srgbClr val="FFFFFF"/>
                </a:solidFill>
                <a:latin typeface="Microsoft YaHei"/>
              </a:rPr>
              <a:t>MathGuide</a:t>
            </a:r>
            <a:endParaRPr sz="7200" b="1" i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Microsoft YaHei"/>
              </a:rPr>
              <a:t>启发式 AI 数学老师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 err="1">
                <a:solidFill>
                  <a:srgbClr val="CADCFC"/>
                </a:solidFill>
                <a:latin typeface="Microsoft YaHei"/>
              </a:rPr>
              <a:t>小学数学错题辅导与专项复习</a:t>
            </a:r>
            <a:r>
              <a:rPr sz="1600" b="0" i="0" dirty="0">
                <a:solidFill>
                  <a:srgbClr val="CADCFC"/>
                </a:solidFill>
                <a:latin typeface="Microsoft YaHei"/>
              </a:rPr>
              <a:t> · </a:t>
            </a:r>
            <a:r>
              <a:rPr sz="1600" b="0" i="0" dirty="0" err="1">
                <a:solidFill>
                  <a:srgbClr val="CADCFC"/>
                </a:solidFill>
                <a:latin typeface="Microsoft YaHei"/>
              </a:rPr>
              <a:t>项目计划书</a:t>
            </a:r>
            <a:endParaRPr sz="1600" b="0" i="0" dirty="0">
              <a:solidFill>
                <a:srgbClr val="CADCFC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5486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3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sz="1300" b="0" i="0" dirty="0">
                <a:solidFill>
                  <a:srgbClr val="CADCFC"/>
                </a:solidFill>
                <a:latin typeface="Microsoft YaHei"/>
              </a:rPr>
              <a:t>组 / 2026.10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B9E8AB8-C9FD-B39C-40F8-942D469EBA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52" b="9252"/>
          <a:stretch>
            <a:fillRect/>
          </a:stretch>
        </p:blipFill>
        <p:spPr>
          <a:xfrm>
            <a:off x="6120809" y="0"/>
            <a:ext cx="6097588" cy="68580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教育痛点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小学数学辅导的三大现实困境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" y="2194560"/>
            <a:ext cx="356616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0916" y="2194560"/>
            <a:ext cx="3566160" cy="7315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" y="2468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534F"/>
                </a:solidFill>
                <a:latin typeface="Microsoft YaHei"/>
              </a:rPr>
              <a:t>搜题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" y="3063240"/>
            <a:ext cx="30175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拍照秒出答案</a:t>
            </a:r>
          </a:p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学生抄答案不思考</a:t>
            </a:r>
          </a:p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错题下次还错</a:t>
            </a:r>
          </a:p>
          <a:p>
            <a:pPr algn="l"/>
            <a:endParaRPr sz="1500" b="0" i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「给了答案，丢了思考」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1396" y="2194560"/>
            <a:ext cx="356616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1396" y="2194560"/>
            <a:ext cx="3566160" cy="7315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5716" y="2468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534F"/>
                </a:solidFill>
                <a:latin typeface="Microsoft YaHei"/>
              </a:rPr>
              <a:t>家长辅导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716" y="3063240"/>
            <a:ext cx="30175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知识遗忘难辅导</a:t>
            </a:r>
          </a:p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方法不对越教越糊涂</a:t>
            </a:r>
          </a:p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时间精力跟不上</a:t>
            </a:r>
          </a:p>
          <a:p>
            <a:pPr algn="l"/>
            <a:endParaRPr sz="1500" b="0" i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「心有余而力不足」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1876" y="2194560"/>
            <a:ext cx="356616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51876" y="2194560"/>
            <a:ext cx="3566160" cy="7315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6196" y="2468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534F"/>
                </a:solidFill>
                <a:latin typeface="Microsoft YaHei"/>
              </a:rPr>
              <a:t>课外班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6196" y="3063240"/>
            <a:ext cx="30175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一对多难以个性化</a:t>
            </a:r>
          </a:p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看不见每个学生的思路</a:t>
            </a:r>
          </a:p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费用高昂难持续</a:t>
            </a:r>
          </a:p>
          <a:p>
            <a:pPr algn="l"/>
            <a:endParaRPr sz="1500" b="0" i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500" b="0" i="0">
                <a:solidFill>
                  <a:srgbClr val="1A2230"/>
                </a:solidFill>
                <a:latin typeface="Microsoft YaHei"/>
              </a:rPr>
              <a:t>「钱花了，效果看不见」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02 /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产品愿景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我们的目标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>
                <a:solidFill>
                  <a:srgbClr val="1E4FA8"/>
                </a:solidFill>
                <a:latin typeface="Microsoft YaHei"/>
              </a:rPr>
              <a:t>让每个孩子都有一位耐心的 AI 老师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4A5568"/>
                </a:solidFill>
                <a:latin typeface="Microsoft YaHei"/>
              </a:rPr>
              <a:t>不替学生思考，而是教学生思考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1668" y="3541776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1668" y="3541776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988" y="381609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4FA8"/>
                </a:solidFill>
                <a:latin typeface="Microsoft YaHei"/>
              </a:rPr>
              <a:t>只引导不给答案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88" y="4410456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苏格拉底式提问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学生自己推导出答案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2148" y="3541776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2148" y="3541776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6468" y="381609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4FA8"/>
                </a:solidFill>
                <a:latin typeface="Microsoft YaHei"/>
              </a:rPr>
              <a:t>公式查表不编造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6468" y="4410456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50+ 条小学数学公式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精确检索，零幻觉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2628" y="3541776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2628" y="3541776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6948" y="381609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4FA8"/>
                </a:solidFill>
                <a:latin typeface="Microsoft YaHei"/>
              </a:rPr>
              <a:t>全部本地运行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6948" y="4410456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隐私安全不出本机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零 API 使用成本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03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E1652C03-E9FA-6E57-D1F6-C37A0D61F0FB}"/>
              </a:ext>
            </a:extLst>
          </p:cNvPr>
          <p:cNvSpPr/>
          <p:nvPr/>
        </p:nvSpPr>
        <p:spPr>
          <a:xfrm>
            <a:off x="391668" y="5727192"/>
            <a:ext cx="114300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文本框 36" descr="{&quot;isTemplate&quot;:true,&quot;type&quot;:&quot;text&quot;}">
            <a:extLst>
              <a:ext uri="{FF2B5EF4-FFF2-40B4-BE49-F238E27FC236}">
                <a16:creationId xmlns:a16="http://schemas.microsoft.com/office/drawing/2014/main" id="{84DE14EF-1A16-BE48-FD7B-281340282F00}"/>
              </a:ext>
            </a:extLst>
          </p:cNvPr>
          <p:cNvSpPr txBox="1"/>
          <p:nvPr/>
        </p:nvSpPr>
        <p:spPr>
          <a:xfrm>
            <a:off x="4744593" y="5879592"/>
            <a:ext cx="2724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产品目标：引导思考，记录过程，安排有针对性的复习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目标功能地图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四大模块构成完整学习闭环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" y="1920240"/>
            <a:ext cx="5577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2336" y="1920240"/>
            <a:ext cx="557784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2194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4FA8"/>
                </a:solidFill>
                <a:latin typeface="Microsoft YaHei"/>
              </a:rPr>
              <a:t>① 启发式辅导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788920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多轮苏格拉底式对话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引导学生自己想通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而非直接给答案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920240"/>
            <a:ext cx="5577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08776" y="1920240"/>
            <a:ext cx="557784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2194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4FA8"/>
                </a:solidFill>
                <a:latin typeface="Microsoft YaHei"/>
              </a:rPr>
              <a:t>② 学习档案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788920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错题 + 对话完整保存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按日期/题型筛选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薄弱点自动统计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" y="4160520"/>
            <a:ext cx="5577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" y="4160520"/>
            <a:ext cx="557784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" y="4434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4FA8"/>
                </a:solidFill>
                <a:latin typeface="Microsoft YaHei"/>
              </a:rPr>
              <a:t>③ 专项练习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029200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受控参数化变式题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Python 精确判分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连续答对更新优先级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4160520"/>
            <a:ext cx="5577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4160520"/>
            <a:ext cx="557784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3096" y="4434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4FA8"/>
                </a:solidFill>
                <a:latin typeface="Microsoft YaHei"/>
              </a:rPr>
              <a:t>④ 知识诊断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5029200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实时识别知识点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答错时动态切换提示卡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自动标注年级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04 /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功能一 · 启发式辅导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苏格拉底式提问，让学生自己想明白</a:t>
            </a:r>
          </a:p>
        </p:txBody>
      </p:sp>
      <p:pic>
        <p:nvPicPr>
          <p:cNvPr id="5" name="Picture 4" descr="shot-tu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858000" cy="4286250"/>
          </a:xfrm>
          <a:prstGeom prst="rect">
            <a:avLst/>
          </a:prstGeom>
          <a:ln w="12700">
            <a:solidFill>
              <a:srgbClr val="D5DCE8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498079" y="169164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79" y="169164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399" y="196596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多轮苏格拉底对话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33172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Microsoft YaHei"/>
              </a:rPr>
              <a:t>AI </a:t>
            </a:r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不直接给答案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用问题一步步引导学生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右侧同步显示公式卡片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79" y="310896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310896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399" y="338328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12 轮引导上限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3774948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超过耐心限度才完整讲解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不让学生永远卡死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79" y="452628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452628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399" y="480060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答错先肯定再换问法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5196078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保护学生自信心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用更简单的问题提示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4FA8"/>
                </a:solidFill>
                <a:latin typeface="Microsoft YaHei"/>
              </a:rPr>
              <a:t>实现技术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59" y="6179058"/>
            <a:ext cx="10177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Microsoft YaHei"/>
              </a:rPr>
              <a:t>Ollama  ·  Qwen2.5-3B  ·  提示词工程  ·  辅导状态机  ·  [UNDERSTOOD] 标记契约  ·  流式输出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05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功能二 · 学习档案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错题保留 + 对话回放 + 薄弱统计</a:t>
            </a:r>
          </a:p>
        </p:txBody>
      </p:sp>
      <p:pic>
        <p:nvPicPr>
          <p:cNvPr id="5" name="Picture 4" descr="shot-arch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858000" cy="4286250"/>
          </a:xfrm>
          <a:prstGeom prst="rect">
            <a:avLst/>
          </a:prstGeom>
          <a:ln w="12700">
            <a:solidFill>
              <a:srgbClr val="D5DCE8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498079" y="169164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79" y="169164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399" y="196596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完整记录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33172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题目、对话、结果、是否独立解出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全部永久保存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不再丢失任何一次思考过程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79" y="310896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310896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399" y="338328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多维筛选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3785616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按日期、题型、知识点筛选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快速定位某段时间的错题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79" y="452628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452628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399" y="480060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对话回放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5154168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随时打开历史记录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回看当时完整对话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期中期末集中复习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4FA8"/>
                </a:solidFill>
                <a:latin typeface="Microsoft YaHei"/>
              </a:rPr>
              <a:t>实现技术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6172200"/>
            <a:ext cx="10177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Microsoft YaHei"/>
              </a:rPr>
              <a:t>SQLite  ·  zlib 无损压缩  ·  日期/题型联合索引  ·  FastAPI  ·  会话快照恢复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06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功能三 · 专项练习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针对薄弱点的变式训练闭环</a:t>
            </a:r>
          </a:p>
        </p:txBody>
      </p:sp>
      <p:pic>
        <p:nvPicPr>
          <p:cNvPr id="5" name="Picture 4" descr="shot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858000" cy="4286250"/>
          </a:xfrm>
          <a:prstGeom prst="rect">
            <a:avLst/>
          </a:prstGeom>
          <a:ln w="12700">
            <a:solidFill>
              <a:srgbClr val="D5DCE8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498079" y="169164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79" y="169164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399" y="196596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受控参数化变式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33172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保留原题知识点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只改数字与情境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确保变式题的科学性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79" y="310896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310896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399" y="338328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Python 精确判分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3714644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不接受模糊答案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>
                <a:solidFill>
                  <a:srgbClr val="1A2230"/>
                </a:solidFill>
                <a:latin typeface="Microsoft YaHei"/>
              </a:rPr>
              <a:t>Fraction </a:t>
            </a:r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处理分数小数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给出参考答案与思路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79" y="452628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452628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399" y="480060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复习优先分机制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516636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未独立掌握</a:t>
            </a:r>
            <a:r>
              <a:rPr sz="1200" b="0" i="0" dirty="0">
                <a:solidFill>
                  <a:srgbClr val="1A2230"/>
                </a:solidFill>
                <a:latin typeface="Microsoft YaHei"/>
              </a:rPr>
              <a:t> +2 分</a:t>
            </a: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独立答对</a:t>
            </a:r>
            <a:r>
              <a:rPr sz="1200" b="0" i="0" dirty="0">
                <a:solidFill>
                  <a:srgbClr val="1A2230"/>
                </a:solidFill>
                <a:latin typeface="Microsoft YaHei"/>
              </a:rPr>
              <a:t> -1 分</a:t>
            </a: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连续</a:t>
            </a:r>
            <a:r>
              <a:rPr sz="1200" b="0" i="0" dirty="0">
                <a:solidFill>
                  <a:srgbClr val="1A2230"/>
                </a:solidFill>
                <a:latin typeface="Microsoft YaHei"/>
              </a:rPr>
              <a:t> 3 </a:t>
            </a:r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题答对标记巩固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4FA8"/>
                </a:solidFill>
                <a:latin typeface="Microsoft YaHei"/>
              </a:rPr>
              <a:t>实现技术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6172200"/>
            <a:ext cx="10177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Microsoft YaHei"/>
              </a:rPr>
              <a:t>Python 模板引擎  ·  50 个受控参数化题型  ·  Fraction 精确计算  ·  SQLite 状态跟踪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07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notes={`我也清楚系统的边界：小模型不擅长精确计算，所以设计上它只负责理解和对话；OCR 只能识别文字，纯图形几何题暂不支持；题型目前限定小学课内六类。这些都在架构上留好了扩展口——知识库加数据就能扩学段，计算器工具接上就能补计算。正视局限，才谈得上工程可靠。`}&gt;&#10;  &lt;Box style={{ width: '1280px', height: '720px', background: '#FFFFFF', flexDirection: 'column' }}&gt;&#10;    &lt;Box style={{ height: 72, background: '#0E3F8C', padding: '0 40', justifyContent: 'center' }}&gt;&#10;      &lt;Text style={{ fontSize: 28, fontWeight: 'bold', color: '#FFFFFF' }}&gt;局限与展望&lt;/Text&gt;&#10;    &lt;/Box&gt;&#10;    &lt;Box style={{ height: 576, padding: '32px 40px 24px 40px', flexDirection: 'column', gap: 24 }}&gt;&#10;      &lt;Table&#10;        style={{ width: '100%', height: 380 }}&#10;        defaultTextStyle={{ fontSize: 19, textAlign: 'left', color: '#1A2230', lineHeight: 1.4 }}&#10;        defaultCellStyle={{&#10;          border: {&#10;            left: { width: 1, color: '#D6DCE5' },&#10;            right: { width: 1, color: '#D6DCE5' },&#10;            top: { width: 1, color: '#D6DCE5' },&#10;            bottom: { width: 1, color: '#D6DCE5' },&#10;          },&#10;          padding: { top: 16, bottom: 16, left: 20, right: 20 },&#10;        }}&#10;        cells={[&#10;          [&#10;            { text: '当前局限', textStyle: { bold: true, color: '#FFFFFF', fontSize: 20 }, cellStyle: { background: { color: '#0E3F8C' } } },&#10;            { text: '应对 / 展望', textStyle: { bold: true, color: '#FFFFFF', fontSize: 20 }, cellStyle: { background: { color: '#0E3F8C' } } },&#10;          ],&#10;          [&#10;            { text: '小模型算术可能出错', textStyle: { color: '#1A2230', fontWeight: 'bold' } },&#10;            { text: '纯计算交给 Python 执行，模型只负责理解与对话' },&#10;          ],&#10;          [&#10;            { text: '无法解析几何图形', textStyle: { color: '#1A2230', fontWeight: 'bold' } },&#10;            { text: '当前仅支持文字题干；后续可接入图形识别或手动标注' },&#10;          ],&#10;          [&#10;            { text: '仅限小学课内 6 类题', textStyle: { color: '#1A2230', fontWeight: 'bold' } },&#10;            { text: '知识库加数据即可平滑扩展到初中' },&#10;          ],&#10;          [&#10;            { text: '引导话术仍有少量幻觉', textStyle: { color: '#1A2230', fontWeight: 'bold' } },&#10;            { text: '提示词加固 + 大量测试用例，状态机兜底' },&#10;          ],&#10;        ]}&#10;      /&gt;&#10;      &lt;Box style={{ height: 96, background: '#E8EFF8', borderRadius: 10, justifyContent: 'center', alignItems: 'center', padding: '0 40' }}&gt;&#10;        &lt;Text style={{ fontSize: 24, fontWeight: 'bold', color: '#0E3F8C' }}&gt;正视局限，是工程可靠的前提&lt;/Text&gt;&#10;      &lt;/Box&gt;&#10;    &lt;/Box&gt;&#10;    &lt;Box style={{ height: 72, padding: '0 40', flexDirection: 'row', justifyContent: 'space-between', alignItems: 'center', background: '#F7F9FC' }}&gt;&#10;      &lt;Text style={{ fontSize: 14, color: '#8B97A8' }}&gt;MathGuide · 本地化小学数学启发式辅导系统&lt;/Text&gt;&#10;      &lt;Text style={{ fontSize: 16, fontWeight: 'bold', color: '#0E3F8C' }}&gt;11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-1" y="893"/>
            <a:ext cx="12188825" cy="685621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31" name="矩形 30"/>
          <p:cNvSpPr/>
          <p:nvPr/>
        </p:nvSpPr>
        <p:spPr>
          <a:xfrm>
            <a:off x="-1" y="893"/>
            <a:ext cx="12188825" cy="685621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380901" y="181821"/>
            <a:ext cx="11427023" cy="323766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099" b="1" dirty="0">
                <a:solidFill>
                  <a:srgbClr val="FFFFFF"/>
                </a:solidFill>
                <a:latin typeface="Microsoft YaHei"/>
                <a:ea typeface="Microsoft YaHei"/>
              </a:rPr>
              <a:t>专项练习：改编题目与作答反馈</a:t>
            </a:r>
            <a:endParaRPr sz="1799" dirty="0"/>
          </a:p>
        </p:txBody>
      </p:sp>
      <p:sp>
        <p:nvSpPr>
          <p:cNvPr id="34" name="矩形: 圆角 33"/>
          <p:cNvSpPr/>
          <p:nvPr/>
        </p:nvSpPr>
        <p:spPr>
          <a:xfrm>
            <a:off x="380901" y="4838333"/>
            <a:ext cx="11427023" cy="914162"/>
          </a:xfrm>
          <a:prstGeom prst="roundRect">
            <a:avLst>
              <a:gd name="adj" fmla="val 10417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36" name="矩形 35"/>
          <p:cNvSpPr/>
          <p:nvPr/>
        </p:nvSpPr>
        <p:spPr>
          <a:xfrm>
            <a:off x="-1" y="6171486"/>
            <a:ext cx="12188825" cy="685621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380901" y="6438117"/>
            <a:ext cx="2694873" cy="16188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MathGuide · </a:t>
            </a:r>
            <a:r>
              <a:rPr lang="zh-CN" altLang="en-US" sz="1050">
                <a:solidFill>
                  <a:srgbClr val="8B97A8"/>
                </a:solidFill>
                <a:latin typeface="Microsoft YaHei"/>
                <a:ea typeface="Microsoft YaHei"/>
              </a:rPr>
              <a:t>本地化小学数学启发式辅导系统</a:t>
            </a:r>
            <a:endParaRPr sz="1799"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11265140" y="6419071"/>
            <a:ext cx="542784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05 / 14</a:t>
            </a:r>
            <a:endParaRPr sz="1799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E19B28-DD3A-A5DB-CF86-A2827B0DAE1B}"/>
              </a:ext>
            </a:extLst>
          </p:cNvPr>
          <p:cNvSpPr txBox="1"/>
          <p:nvPr/>
        </p:nvSpPr>
        <p:spPr>
          <a:xfrm>
            <a:off x="444384" y="1042022"/>
            <a:ext cx="5459578" cy="430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199">
                <a:solidFill>
                  <a:srgbClr val="134F8B"/>
                </a:solidFill>
                <a:latin typeface="Microsoft YaHei" panose="020B0503020204020204" pitchFamily="34" charset="-122"/>
              </a:rPr>
              <a:t>按薄弱知识点安排改编题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468E4D-1931-FE1C-76F8-D3C8969B7DBC}"/>
              </a:ext>
            </a:extLst>
          </p:cNvPr>
          <p:cNvSpPr txBox="1"/>
          <p:nvPr/>
        </p:nvSpPr>
        <p:spPr>
          <a:xfrm>
            <a:off x="6284862" y="1042022"/>
            <a:ext cx="5459578" cy="430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199">
                <a:solidFill>
                  <a:srgbClr val="134F8B"/>
                </a:solidFill>
                <a:latin typeface="Microsoft YaHei" panose="020B0503020204020204" pitchFamily="34" charset="-122"/>
              </a:rPr>
              <a:t>提交后反馈并更新复习状态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EA5D98-796C-9752-A566-2F7BF4DE657C}"/>
              </a:ext>
            </a:extLst>
          </p:cNvPr>
          <p:cNvSpPr txBox="1"/>
          <p:nvPr/>
        </p:nvSpPr>
        <p:spPr>
          <a:xfrm>
            <a:off x="444384" y="5016086"/>
            <a:ext cx="5459578" cy="36923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799">
                <a:solidFill>
                  <a:srgbClr val="134F8B"/>
                </a:solidFill>
                <a:latin typeface="Microsoft YaHei" panose="020B0503020204020204" pitchFamily="34" charset="-122"/>
              </a:rPr>
              <a:t>题干、作答单位与提示入口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66D0B1-D888-09B0-2DFA-94A529317368}"/>
              </a:ext>
            </a:extLst>
          </p:cNvPr>
          <p:cNvSpPr txBox="1"/>
          <p:nvPr/>
        </p:nvSpPr>
        <p:spPr>
          <a:xfrm>
            <a:off x="6284862" y="5143053"/>
            <a:ext cx="5459578" cy="36923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799">
                <a:solidFill>
                  <a:srgbClr val="134F8B"/>
                </a:solidFill>
                <a:latin typeface="Microsoft YaHei" panose="020B0503020204020204" pitchFamily="34" charset="-122"/>
              </a:rPr>
              <a:t>参考答案和思路，刷新后仍可回看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CF20CB-7F0A-D80A-DB00-CE1B27B7E1D0}"/>
              </a:ext>
            </a:extLst>
          </p:cNvPr>
          <p:cNvSpPr txBox="1"/>
          <p:nvPr/>
        </p:nvSpPr>
        <p:spPr>
          <a:xfrm>
            <a:off x="444384" y="5777888"/>
            <a:ext cx="11300057" cy="3384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134F8B"/>
                </a:solidFill>
                <a:latin typeface="Microsoft YaHei" panose="020B0503020204020204" pitchFamily="34" charset="-122"/>
              </a:rPr>
              <a:t>界面交互示例，使用隔离测试数据，不代表学生实验效果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49E627-6C87-B51B-B830-26F009B0DB9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84" y="1782221"/>
            <a:ext cx="5459578" cy="272220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5E0A840-3F94-650B-4141-01B86B75196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862" y="1690699"/>
            <a:ext cx="5459578" cy="322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17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功能四 · 知识诊断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实时识别 + 动态切卡 + 年级标注</a:t>
            </a:r>
          </a:p>
        </p:txBody>
      </p:sp>
      <p:pic>
        <p:nvPicPr>
          <p:cNvPr id="5" name="Picture 4" descr="shot-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858000" cy="4286250"/>
          </a:xfrm>
          <a:prstGeom prst="rect">
            <a:avLst/>
          </a:prstGeom>
          <a:ln w="12700">
            <a:solidFill>
              <a:srgbClr val="D5DCE8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498079" y="169164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79" y="169164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399" y="196596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本地未收录走 AI 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341939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题库未覆盖的题目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>
                <a:solidFill>
                  <a:srgbClr val="1A2230"/>
                </a:solidFill>
                <a:latin typeface="Microsoft YaHei"/>
              </a:rPr>
              <a:t>AI </a:t>
            </a:r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现场生成公式卡片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右侧带「AI</a:t>
            </a:r>
            <a:r>
              <a:rPr sz="1200" b="0" i="0" dirty="0">
                <a:solidFill>
                  <a:srgbClr val="1A2230"/>
                </a:solidFill>
                <a:latin typeface="Microsoft YaHei"/>
              </a:rPr>
              <a:t> </a:t>
            </a:r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生成」水印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79" y="310896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310896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399" y="338328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动态切卡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3721608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学生答错或混淆概念时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右侧知识卡自动切换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例如把圆面积说成圆周长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79" y="4526280"/>
            <a:ext cx="4233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4526280"/>
            <a:ext cx="423367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399" y="480060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年级标注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512064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Microsoft YaHei"/>
              </a:rPr>
              <a:t>AI </a:t>
            </a:r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生成公式自动标注年级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如「六年级上册</a:t>
            </a:r>
            <a:r>
              <a:rPr sz="1200" b="0" i="0" dirty="0">
                <a:solidFill>
                  <a:srgbClr val="1A2230"/>
                </a:solidFill>
                <a:latin typeface="Microsoft YaHei"/>
              </a:rPr>
              <a:t>」</a:t>
            </a:r>
          </a:p>
          <a:p>
            <a:pPr algn="l"/>
            <a:r>
              <a:rPr sz="1200" b="0" i="0" dirty="0" err="1">
                <a:solidFill>
                  <a:srgbClr val="1A2230"/>
                </a:solidFill>
                <a:latin typeface="Microsoft YaHei"/>
              </a:rPr>
              <a:t>帮家长判断该不该辅导</a:t>
            </a:r>
            <a:endParaRPr sz="1200" b="0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4FA8"/>
                </a:solidFill>
                <a:latin typeface="Microsoft YaHei"/>
              </a:rPr>
              <a:t>实现技术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6172200"/>
            <a:ext cx="10177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Microsoft YaHei"/>
              </a:rPr>
              <a:t>RapidOCR  ·  双轨制（本地公式库 + AI 生成）  ·  启发式后端校验  ·  JSON 契约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08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教学理念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为什么不直接给答案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45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1E4FA8"/>
                </a:solidFill>
                <a:latin typeface="Microsoft YaHei"/>
              </a:rPr>
              <a:t>「学生自己推导出的答案，才是真正的答案。」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" y="30175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0916" y="301752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" y="32918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4FA8"/>
                </a:solidFill>
                <a:latin typeface="Microsoft YaHei"/>
              </a:rPr>
              <a:t>建构主义学习观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388620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知识不是被动接受的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而是学生主动建构的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AI 的角色是脚手架不是替代者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1396" y="30175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1396" y="301752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5716" y="32918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4FA8"/>
                </a:solidFill>
                <a:latin typeface="Microsoft YaHei"/>
              </a:rPr>
              <a:t>最近发展区理论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716" y="388620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在引导下完成比独立完成收获更大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AI 提供恰到好处的提示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让学生「跳一跳，够得着」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1876" y="30175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51876" y="301752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26196" y="32918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4FA8"/>
                </a:solidFill>
                <a:latin typeface="Microsoft YaHei"/>
              </a:rPr>
              <a:t>生成效应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6196" y="388620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自己生成的答案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比阅读现成答案的记忆更深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错题不再重复犯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09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四层设计 · 职责清晰 · 可测试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10360152" cy="777240"/>
          </a:xfrm>
          <a:prstGeom prst="roundRect">
            <a:avLst>
              <a:gd name="adj" fmla="val 10000"/>
            </a:avLst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31343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表现层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6771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Web 浏览器界面 / 终端 REPL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8EEF7"/>
                </a:solidFill>
                <a:latin typeface="Microsoft YaHei"/>
              </a:rPr>
              <a:t>接收输入、展示反馈、管理会话状态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35808"/>
            <a:ext cx="10360152" cy="777240"/>
          </a:xfrm>
          <a:prstGeom prst="roundRect">
            <a:avLst>
              <a:gd name="adj" fmla="val 10000"/>
            </a:avLst>
          </a:prstGeom>
          <a:solidFill>
            <a:srgbClr val="1A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32004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业务层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54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辅导状态机 / 知识检索 / 练习生成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4728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8EEF7"/>
                </a:solidFill>
                <a:latin typeface="Microsoft YaHei"/>
              </a:rPr>
              <a:t>控制辅导轮次、出题逻辑、计算与归档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22776"/>
            <a:ext cx="10360152" cy="777240"/>
          </a:xfrm>
          <a:prstGeom prst="roundRect">
            <a:avLst>
              <a:gd name="adj" fmla="val 10000"/>
            </a:avLst>
          </a:prstGeom>
          <a:solidFill>
            <a:srgbClr val="14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08736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适配层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416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Ollama 模型 / RapidOCR / 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33425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8EEF7"/>
                </a:solidFill>
                <a:latin typeface="Microsoft YaHei"/>
              </a:rPr>
              <a:t>封装外部依赖，统一接口便于 mock 测试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09744"/>
            <a:ext cx="10360152" cy="77724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974336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92861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公式库 / 学习记录 / 会话快照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22122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8EEF7"/>
                </a:solidFill>
                <a:latin typeface="Microsoft YaHei"/>
              </a:rPr>
              <a:t>50+ 条公式、学生历史、进行中状态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57316" y="2935224"/>
            <a:ext cx="274320" cy="91440"/>
          </a:xfrm>
          <a:prstGeom prst="down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5957316" y="3822192"/>
            <a:ext cx="274320" cy="91440"/>
          </a:xfrm>
          <a:prstGeom prst="down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5957316" y="4709160"/>
            <a:ext cx="274320" cy="91440"/>
          </a:xfrm>
          <a:prstGeom prst="down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1691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4A5568"/>
                </a:solidFill>
                <a:latin typeface="Microsoft YaHei"/>
              </a:rPr>
              <a:t>Python 3.12  ·  Ollama (Qwen2.5-3B)  ·  RapidOCR  ·  SQLite  ·  FastAPI  ·  pytest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10 / 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notes={`工程上，全程测试驱动开发：每个模块先写失败测试，再实现，29 个测试覆盖所有核心逻辑。辅导流程用显式状态机管理，AI 的回复带状态标记，程序据此推进状态、剥离标记再展示给学生——AI 的“不确定性”被状态机约束成了可预测的行为。各种边界情况：模型输出乱码重试、OCR 识别不了降级为打字输入、学生 12 轮还不会就兜底讲解，都有明确处理。`}&gt;&#10;  &lt;Box style={{ width: '1280px', height: '720px', background: '#FFFFFF', flexDirection: 'column' }}&gt;&#10;    &lt;Box style={{ height: 72, background: '#0E3F8C', padding: '0 40', justifyContent: 'center' }}&gt;&#10;      &lt;Text style={{ fontSize: 28, fontWeight: 'bold', color: '#FFFFFF' }}&gt;工程质量：可测、可预测、可兜底&lt;/Text&gt;&#10;    &lt;/Box&gt;&#10;    &lt;Box style={{ height: 576, padding: '32px 40px 24px 40px', flexDirection: 'column', gap: 24 }}&gt;&#10;      &lt;Box style={{ flexDirection: 'row', gap: 24, height: 220 }}&gt;&#10;        &lt;Box style={{ flex: 1, padding: 24, background: '#E8EFF8', borderRadius: 12, flexDirection: 'column', justifyContent: 'center', alignItems: 'center', gap: 8 }}&gt;&#10;          &lt;Text style={{ fontSize: 88, fontWeight: 'bold', color: '#0E3F8C' }}&gt;29&lt;/Text&gt;&#10;          &lt;Text style={{ fontSize: 20, fontWeight: 'bold', color: '#1A2230' }}&gt;单元测试&lt;/Text&gt;&#10;          &lt;Text style={{ fontSize: 16, color: '#4A5568', textAlign: 'center' }}&gt;TDD 先行，核心逻辑全部覆盖&lt;/Text&gt;&#10;        &lt;/Box&gt;&#10;        &lt;Box style={{ flex: 1, padding: 24, background: '#E8EFF8', borderRadius: 12, flexDirection: 'column', justifyContent: 'center', alignItems: 'center', gap: 8 }}&gt;&#10;          &lt;Text style={{ fontSize: 88, fontWeight: 'bold', color: '#0E3F8C' }}&gt;5&lt;/Text&gt;&#10;          &lt;Text style={{ fontSize: 20, fontWeight: 'bold', color: '#1A2230' }}&gt;显式状态&lt;/Text&gt;&#10;          &lt;Text style={{ fontSize: 16, color: '#4A5568', textAlign: 'center' }}&gt;状态机驱动，行为可预测&lt;/Text&gt;&#10;        &lt;/Box&gt;&#10;        &lt;Box style={{ flex: 1, padding: 24, background: '#E8EFF8', borderRadius: 12, flexDirection: 'column', justifyContent: 'center', alignItems: 'center', gap: 8 }}&gt;&#10;          &lt;Text style={{ fontSize: 88, fontWeight: 'bold', color: '#0E3F8C' }}&gt;12&lt;/Text&gt;&#10;          &lt;Text style={{ fontSize: 20, fontWeight: 'bold', color: '#1A2230' }}&gt;轮兜底&lt;/Text&gt;&#10;          &lt;Text style={{ fontSize: 16, color: '#4A5568', textAlign: 'center' }}&gt;超轮后完整讲解并标记状态&lt;/Text&gt;&#10;        &lt;/Box&gt;&#10;      &lt;/Box&gt;&#10;      &lt;Box style={{ flex: 1, flexDirection: 'row', gap: 24 }}&gt;&#10;        &lt;Box style={{ flex: 1, padding: 24, background: '#FFFFFF', border: '1px solid #D6DCE5', borderRadius: 10, flexDirection: 'column', gap: 12 }}&gt;&#10;          &lt;Text style={{ fontSize: 22, fontWeight: 'bold', color: '#0E3F8C' }}&gt;状态机约束 AI 的不确定性&lt;/Text&gt;&#10;          &lt;Text style={{ fontSize: 18, color: '#4A5568', lineHeight: 1.6 }}&gt;IDLE → ANALYZING → FORMULA_SHOWN → GUIDING → DONE&lt;/Text&gt;&#10;          &lt;Text style={{ fontSize: 17, color: '#1A2230', lineHeight: 1.5 }}&gt;AI 回复携带状态标记，程序剥离标记后再展示，确保每一步行为可预测、可测试。&lt;/Text&gt;&#10;        &lt;/Box&gt;&#10;        &lt;Box style={{ flex: 1, padding: 24, background: '#FFFFFF', border: '1px solid #D6DCE5', borderRadius: 10, flexDirection: 'column', gap: 12 }}&gt;&#10;          &lt;Text style={{ fontSize: 22, fontWeight: 'bold', color: '#0E3F8C' }}&gt;边界情况有明确处理&lt;/Text&gt;&#10;          &lt;Box style={{ flexDirection: 'column', gap: 8 }}&gt;&#10;            &lt;Text style={{ fontSize: 17, color: '#1A2230', lineHeight: 1.5 }}&gt;• JSON 解析失败 → 自动重试&lt;/Text&gt;&#10;            &lt;Text style={{ fontSize: 17, color: '#1A2230', lineHeight: 1.5 }}&gt;• OCR 失败 → 降级为文字输入&lt;/Text&gt;&#10;            &lt;Text style={{ fontSize: 17, color: '#1A2230', lineHeight: 1.5 }}&gt;• 非数学题 → 礼貌拒绝并引导&lt;/Text&gt;&#10;            &lt;Text style={{ fontSize: 17, color: '#1A2230', lineHeight: 1.5 }}&gt;• 9 个任务 checkbox 化管理&lt;/Text&gt;&#10;          &lt;/Box&gt;&#10;        &lt;/Box&gt;&#10;      &lt;/Box&gt;&#10;    &lt;/Box&gt;&#10;    &lt;Box style={{ height: 72, padding: '0 40', flexDirection: 'row', justifyContent: 'space-between', alignItems: 'center', background: '#F7F9FC' }}&gt;&#10;      &lt;Text style={{ fontSize: 14, color: '#8B97A8' }}&gt;MathGuide · 本地化小学数学启发式辅导系统&lt;/Text&gt;&#10;      &lt;Text style={{ fontSize: 16, fontWeight: 'bold', color: '#0E3F8C' }}&gt;09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 218"/>
          <p:cNvSpPr/>
          <p:nvPr/>
        </p:nvSpPr>
        <p:spPr>
          <a:xfrm>
            <a:off x="-1" y="893"/>
            <a:ext cx="12188825" cy="685621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220" name="矩形 219"/>
          <p:cNvSpPr/>
          <p:nvPr/>
        </p:nvSpPr>
        <p:spPr>
          <a:xfrm>
            <a:off x="-1" y="893"/>
            <a:ext cx="12188825" cy="685621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80901" y="181821"/>
            <a:ext cx="11427023" cy="323766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099" b="1">
                <a:solidFill>
                  <a:srgbClr val="FFFFFF"/>
                </a:solidFill>
                <a:latin typeface="Microsoft YaHei"/>
                <a:ea typeface="Microsoft YaHei"/>
              </a:rPr>
              <a:t>学习记录：压缩存储与检索</a:t>
            </a:r>
            <a:endParaRPr sz="1799"/>
          </a:p>
        </p:txBody>
      </p:sp>
      <p:sp>
        <p:nvSpPr>
          <p:cNvPr id="222" name="矩形: 圆角 221"/>
          <p:cNvSpPr/>
          <p:nvPr/>
        </p:nvSpPr>
        <p:spPr>
          <a:xfrm>
            <a:off x="380900" y="991235"/>
            <a:ext cx="3656648" cy="2094954"/>
          </a:xfrm>
          <a:prstGeom prst="roundRect">
            <a:avLst>
              <a:gd name="adj" fmla="val 5455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1695008" y="1248343"/>
            <a:ext cx="1037955" cy="1009387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altLang="zh-CN" sz="4299" b="1">
                <a:solidFill>
                  <a:srgbClr val="0E3F8C"/>
                </a:solidFill>
                <a:latin typeface="Microsoft YaHei"/>
                <a:ea typeface="Microsoft YaHei"/>
              </a:rPr>
              <a:t>SQLite</a:t>
            </a:r>
            <a:endParaRPr sz="4299"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1828323" y="2333910"/>
            <a:ext cx="761802" cy="22854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题目与学习结果</a:t>
            </a:r>
            <a:endParaRPr sz="1799"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1190315" y="2638631"/>
            <a:ext cx="2047342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altLang="en-US" sz="1200">
                <a:solidFill>
                  <a:srgbClr val="4A5568"/>
                </a:solidFill>
                <a:latin typeface="Microsoft YaHei"/>
                <a:ea typeface="Microsoft YaHei"/>
              </a:rPr>
              <a:t>按字段保存，便于筛选和统计</a:t>
            </a:r>
            <a:endParaRPr sz="1799"/>
          </a:p>
        </p:txBody>
      </p:sp>
      <p:sp>
        <p:nvSpPr>
          <p:cNvPr id="226" name="矩形: 圆角 225"/>
          <p:cNvSpPr/>
          <p:nvPr/>
        </p:nvSpPr>
        <p:spPr>
          <a:xfrm>
            <a:off x="4266088" y="991235"/>
            <a:ext cx="3656648" cy="2094954"/>
          </a:xfrm>
          <a:prstGeom prst="roundRect">
            <a:avLst>
              <a:gd name="adj" fmla="val 5455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5837304" y="1248343"/>
            <a:ext cx="523739" cy="1009387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299" b="1">
                <a:solidFill>
                  <a:srgbClr val="0E3F8C"/>
                </a:solidFill>
                <a:latin typeface="Microsoft YaHei"/>
                <a:ea typeface="Microsoft YaHei"/>
              </a:rPr>
              <a:t>JSON</a:t>
            </a:r>
            <a:endParaRPr sz="4299"/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5713511" y="2333910"/>
            <a:ext cx="761802" cy="22854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学生与老师的对话</a:t>
            </a:r>
            <a:endParaRPr sz="1799"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5256431" y="2638631"/>
            <a:ext cx="1675963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altLang="en-US" sz="1200">
                <a:solidFill>
                  <a:srgbClr val="4A5568"/>
                </a:solidFill>
                <a:latin typeface="Microsoft YaHei"/>
                <a:ea typeface="Microsoft YaHei"/>
              </a:rPr>
              <a:t>按角色、内容保留对话顺序</a:t>
            </a:r>
            <a:endParaRPr sz="1799"/>
          </a:p>
        </p:txBody>
      </p:sp>
      <p:sp>
        <p:nvSpPr>
          <p:cNvPr id="230" name="矩形: 圆角 229"/>
          <p:cNvSpPr/>
          <p:nvPr/>
        </p:nvSpPr>
        <p:spPr>
          <a:xfrm>
            <a:off x="8151276" y="991235"/>
            <a:ext cx="3656648" cy="2094954"/>
          </a:xfrm>
          <a:prstGeom prst="roundRect">
            <a:avLst>
              <a:gd name="adj" fmla="val 5455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9465384" y="1248343"/>
            <a:ext cx="1037955" cy="1009387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4299" b="1">
                <a:solidFill>
                  <a:srgbClr val="0E3F8C"/>
                </a:solidFill>
                <a:latin typeface="Microsoft YaHei"/>
                <a:ea typeface="Microsoft YaHei"/>
              </a:rPr>
              <a:t>快照</a:t>
            </a:r>
            <a:endParaRPr sz="4299"/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9693924" y="2333910"/>
            <a:ext cx="571351" cy="22854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进行中的会话</a:t>
            </a:r>
            <a:endParaRPr sz="1799"/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9065438" y="2638631"/>
            <a:ext cx="1828324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altLang="en-US" sz="1200">
                <a:solidFill>
                  <a:srgbClr val="4A5568"/>
                </a:solidFill>
                <a:latin typeface="Microsoft YaHei"/>
                <a:ea typeface="Microsoft YaHei"/>
              </a:rPr>
              <a:t>保存状态与轮次，支持重启恢复</a:t>
            </a:r>
            <a:endParaRPr sz="1799"/>
          </a:p>
        </p:txBody>
      </p:sp>
      <p:sp>
        <p:nvSpPr>
          <p:cNvPr id="234" name="矩形: 圆角 233"/>
          <p:cNvSpPr/>
          <p:nvPr/>
        </p:nvSpPr>
        <p:spPr>
          <a:xfrm>
            <a:off x="380901" y="3314730"/>
            <a:ext cx="5599241" cy="2628215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sz="1799"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609441" y="3543271"/>
            <a:ext cx="5142161" cy="257108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结构字段与检索</a:t>
            </a:r>
            <a:endParaRPr sz="1799"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609441" y="3914649"/>
            <a:ext cx="5142161" cy="66657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altLang="en-US" sz="1350">
                <a:solidFill>
                  <a:srgbClr val="4A5568"/>
                </a:solidFill>
                <a:latin typeface="Microsoft YaHei"/>
                <a:ea typeface="Microsoft YaHei"/>
              </a:rPr>
              <a:t>日期与题型通过索引筛选记录</a:t>
            </a:r>
          </a:p>
          <a:p>
            <a:pPr>
              <a:lnSpc>
                <a:spcPct val="160000"/>
              </a:lnSpc>
            </a:pPr>
            <a:r>
              <a:rPr lang="zh-CN" altLang="en-US" sz="1350">
                <a:solidFill>
                  <a:srgbClr val="4A5568"/>
                </a:solidFill>
                <a:latin typeface="Microsoft YaHei"/>
                <a:ea typeface="Microsoft YaHei"/>
              </a:rPr>
              <a:t>对命中的对话解压，再按顺序回放</a:t>
            </a:r>
            <a:endParaRPr sz="1799"/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609441" y="4695495"/>
            <a:ext cx="5142161" cy="59039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275">
                <a:solidFill>
                  <a:srgbClr val="1A2230"/>
                </a:solidFill>
                <a:latin typeface="Microsoft YaHei"/>
                <a:ea typeface="Microsoft YaHei"/>
              </a:rPr>
              <a:t>辅导与练习记录分开保存，历史次数保持不变，练习结果用于更新复习优先分。</a:t>
            </a:r>
            <a:endParaRPr sz="1799"/>
          </a:p>
        </p:txBody>
      </p:sp>
      <p:sp>
        <p:nvSpPr>
          <p:cNvPr id="238" name="矩形: 圆角 237"/>
          <p:cNvSpPr/>
          <p:nvPr/>
        </p:nvSpPr>
        <p:spPr>
          <a:xfrm>
            <a:off x="6208682" y="3314730"/>
            <a:ext cx="5599241" cy="2628215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sz="1799"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437222" y="3543271"/>
            <a:ext cx="5142161" cy="257108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对话的无损压缩流程</a:t>
            </a:r>
            <a:endParaRPr sz="1799"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6437222" y="3914649"/>
            <a:ext cx="5142161" cy="295198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altLang="zh-CN" sz="1275">
                <a:solidFill>
                  <a:srgbClr val="1A2230"/>
                </a:solidFill>
                <a:latin typeface="Microsoft YaHei"/>
                <a:ea typeface="Microsoft YaHei"/>
              </a:rPr>
              <a:t>JSON </a:t>
            </a:r>
            <a:r>
              <a:rPr lang="zh-CN" altLang="en-US" sz="1275">
                <a:solidFill>
                  <a:srgbClr val="1A2230"/>
                </a:solidFill>
                <a:latin typeface="Microsoft YaHei"/>
                <a:ea typeface="Microsoft YaHei"/>
              </a:rPr>
              <a:t>编码为 </a:t>
            </a:r>
            <a:r>
              <a:rPr lang="en-US" altLang="zh-CN" sz="1275">
                <a:solidFill>
                  <a:srgbClr val="1A2230"/>
                </a:solidFill>
                <a:latin typeface="Microsoft YaHei"/>
                <a:ea typeface="Microsoft YaHei"/>
              </a:rPr>
              <a:t>UTF-8</a:t>
            </a:r>
            <a:r>
              <a:rPr lang="zh-CN" altLang="en-US" sz="1275">
                <a:solidFill>
                  <a:srgbClr val="1A2230"/>
                </a:solidFill>
                <a:latin typeface="Microsoft YaHei"/>
                <a:ea typeface="Microsoft YaHei"/>
              </a:rPr>
              <a:t>，使用 </a:t>
            </a:r>
            <a:r>
              <a:rPr lang="en-US" altLang="zh-CN" sz="1275">
                <a:solidFill>
                  <a:srgbClr val="1A2230"/>
                </a:solidFill>
                <a:latin typeface="Microsoft YaHei"/>
                <a:ea typeface="Microsoft YaHei"/>
              </a:rPr>
              <a:t>zlib </a:t>
            </a:r>
            <a:r>
              <a:rPr lang="zh-CN" altLang="en-US" sz="1275">
                <a:solidFill>
                  <a:srgbClr val="1A2230"/>
                </a:solidFill>
                <a:latin typeface="Microsoft YaHei"/>
                <a:ea typeface="Microsoft YaHei"/>
              </a:rPr>
              <a:t>压缩</a:t>
            </a:r>
            <a:endParaRPr sz="1799"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6437222" y="4286027"/>
            <a:ext cx="5142161" cy="295198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altLang="en-US" sz="1275">
                <a:solidFill>
                  <a:srgbClr val="1A2230"/>
                </a:solidFill>
                <a:latin typeface="Microsoft YaHei"/>
                <a:ea typeface="Microsoft YaHei"/>
              </a:rPr>
              <a:t>结果更小时，加版本标记并保存 </a:t>
            </a:r>
            <a:r>
              <a:rPr lang="en-US" altLang="zh-CN" sz="1275">
                <a:solidFill>
                  <a:srgbClr val="1A2230"/>
                </a:solidFill>
                <a:latin typeface="Microsoft YaHei"/>
                <a:ea typeface="Microsoft YaHei"/>
              </a:rPr>
              <a:t>BLOB</a:t>
            </a:r>
            <a:endParaRPr sz="1799"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6437222" y="4657406"/>
            <a:ext cx="5142161" cy="295198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altLang="en-US" sz="1275">
                <a:solidFill>
                  <a:srgbClr val="1A2230"/>
                </a:solidFill>
                <a:latin typeface="Microsoft YaHei"/>
                <a:ea typeface="Microsoft YaHei"/>
              </a:rPr>
              <a:t>短记录与旧记录保留 </a:t>
            </a:r>
            <a:r>
              <a:rPr lang="en-US" altLang="zh-CN" sz="1275">
                <a:solidFill>
                  <a:srgbClr val="1A2230"/>
                </a:solidFill>
                <a:latin typeface="Microsoft YaHei"/>
                <a:ea typeface="Microsoft YaHei"/>
              </a:rPr>
              <a:t>TEXT</a:t>
            </a:r>
            <a:r>
              <a:rPr lang="zh-CN" altLang="en-US" sz="1275">
                <a:solidFill>
                  <a:srgbClr val="1A2230"/>
                </a:solidFill>
                <a:latin typeface="Microsoft YaHei"/>
                <a:ea typeface="Microsoft YaHei"/>
              </a:rPr>
              <a:t>，读取兼容</a:t>
            </a:r>
            <a:endParaRPr sz="1799"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6437222" y="5028784"/>
            <a:ext cx="5142161" cy="295198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altLang="en-US" sz="1275">
                <a:solidFill>
                  <a:srgbClr val="1A2230"/>
                </a:solidFill>
                <a:latin typeface="Microsoft YaHei"/>
                <a:ea typeface="Microsoft YaHei"/>
              </a:rPr>
              <a:t>筛选与统计字段保持可查，压缩率因内容而异</a:t>
            </a:r>
            <a:endParaRPr sz="1799"/>
          </a:p>
        </p:txBody>
      </p:sp>
      <p:sp>
        <p:nvSpPr>
          <p:cNvPr id="244" name="矩形 243"/>
          <p:cNvSpPr/>
          <p:nvPr/>
        </p:nvSpPr>
        <p:spPr>
          <a:xfrm>
            <a:off x="-1" y="6171486"/>
            <a:ext cx="12188825" cy="685621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380901" y="6438117"/>
            <a:ext cx="2694873" cy="16188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MathGuide · </a:t>
            </a:r>
            <a:r>
              <a:rPr lang="zh-CN" altLang="en-US" sz="1050">
                <a:solidFill>
                  <a:srgbClr val="8B97A8"/>
                </a:solidFill>
                <a:latin typeface="Microsoft YaHei"/>
                <a:ea typeface="Microsoft YaHei"/>
              </a:rPr>
              <a:t>本地化小学数学启发式辅导系统</a:t>
            </a:r>
            <a:endParaRPr sz="1799"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11265140" y="6419071"/>
            <a:ext cx="542784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09 / 14</a:t>
            </a:r>
            <a:endParaRPr sz="1799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防幻觉设计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三道防线让 AI 不出错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" y="22860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0916" y="228600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" y="24688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4FA8"/>
                </a:solidFill>
                <a:latin typeface="Microsoft YaHei"/>
              </a:rPr>
              <a:t>防线 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" y="2834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4FA8"/>
                </a:solidFill>
                <a:latin typeface="Microsoft YaHei"/>
              </a:rPr>
              <a:t>公式查表不靠编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34290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模型只输出知识点编号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程序从数据库精确取公式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从源头杜绝公式幻觉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1396" y="22860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1396" y="228600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5716" y="24688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4FA8"/>
                </a:solidFill>
                <a:latin typeface="Microsoft YaHei"/>
              </a:rPr>
              <a:t>防线 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716" y="2834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4FA8"/>
                </a:solidFill>
                <a:latin typeface="Microsoft YaHei"/>
              </a:rPr>
              <a:t>输入校验前置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716" y="34290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题目缺少数字自动反问澄清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不完整输入不进入辅导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避免 AI 在信息不足时编造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1876" y="22860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51876" y="228600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26196" y="24688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4FA8"/>
                </a:solidFill>
                <a:latin typeface="Microsoft YaHei"/>
              </a:rPr>
              <a:t>防线 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6196" y="2834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4FA8"/>
                </a:solidFill>
                <a:latin typeface="Microsoft YaHei"/>
              </a:rPr>
              <a:t>语义后置校验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6196" y="34290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模型选错知识点时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后端启发式立即弃用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改走 AI 生成轨补位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11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notes={`第二个亮点是防幻觉设计。小模型直接生成公式是不可靠的，圆的面积可能写成 πd²。我的做法是：把 50 条公式做成编号候选列表注入提示词，模型只需要回答“这道题是 12 号知识点”，公式文本由程序从 SQLite 精确取出。即使模型输出了非标名称，比如“矩形面积”，别名表还能兜底映射到“长方形面积”。确定性交给程序，灵活性交给模型——各取所长。`}&gt;&#10;  &lt;Box style={{ width: '1280px', height: '720px', background: '#FFFFFF', flexDirection: 'column' }}&gt;&#10;    &lt;Box style={{ height: 72, background: '#0E3F8C', padding: '0 40', justifyContent: 'center' }}&gt;&#10;      &lt;Text style={{ fontSize: 28, fontWeight: 'bold', color: '#FFFFFF' }}&gt;亮点②：知识库解耦，杜绝公式幻觉&lt;/Text&gt;&#10;    &lt;/Box&gt;&#10;    &lt;Box style={{ height: 576, padding: '32px 40px 24px 40px', flexDirection: 'row', gap: 28 }}&gt;&#10;      &lt;Box style={{ flex: 1, padding: 28, background: '#FEF2F2', border: '1px solid #F5A0A0', borderRadius: 12, flexDirection: 'column', gap: 20 }}&gt;&#10;        &lt;Box style={{ flexDirection: 'row', alignItems: 'center', gap: 12 }}&gt;&#10;          &lt;FAIcon name='times-circle' style={{ fill: '#D9534F', width: 36, height: 36 }} /&gt;&#10;          &lt;Text style={{ fontSize: 24, fontWeight: 'bold', color: '#D9534F' }}&gt;传统做法&lt;/Text&gt;&#10;        &lt;/Box&gt;&#10;        &lt;Box style={{ flexDirection: 'row', alignItems: 'center', gap: 12 }}&gt;&#10;          &lt;Box style={{ padding: '10px 16px', background: '#FFFFFF', border: '1px solid #D6DCE5', borderRadius: 8 }}&gt;&#10;            &lt;Text style={{ fontSize: 16, color: '#1A2230' }}&gt;题目&lt;/Text&gt;&#10;          &lt;/Box&gt;&#10;          &lt;FAIcon name='arrow-right' style={{ fill: '#8B97A8', width: 24, height: 24 }} /&gt;&#10;          &lt;Box style={{ padding: '10px 16px', background: '#FFFFFF', border: '1px solid #D6DCE5', borderRadius: 8 }}&gt;&#10;            &lt;Text style={{ fontSize: 16, color: '#1A2230' }}&gt;大模型&lt;/Text&gt;&#10;          &lt;/Box&gt;&#10;          &lt;FAIcon name='arrow-right' style={{ fill: '#8B97A8', width: 24, height: 24 }} /&gt;&#10;          &lt;Box style={{ padding: '10px 16px', background: '#FFFFFF', border: '1px solid #D9534F', borderRadius: 8 }}&gt;&#10;            &lt;Text style={{ fontSize: 16, color: '#D9534F', fontWeight: 'bold' }}&gt;公式？&lt;/Text&gt;&#10;          &lt;/Box&gt;&#10;        &lt;/Box&gt;&#10;        &lt;Text style={{ fontSize: 18, color: '#1A2230', lineHeight: 1.6 }}&gt;小模型可能一本正经地编错公式，教学场景致命。&lt;/Text&gt;&#10;        &lt;Box style={{ flexDirection: 'column', gap: 10, marginTop: 'auto' }}&gt;&#10;          &lt;Text style={{ fontSize: 16, color: '#4A5568' }}&gt;❌ 公式由模型生成，无法保证正确&lt;/Text&gt;&#10;          &lt;Text style={{ fontSize: 16, color: '#4A5568' }}&gt;❌ 输出不可控，难以验证来源&lt;/Text&gt;&#10;          &lt;Text style={{ fontSize: 16, color: '#4A5568' }}&gt;❌ 同一道题每次答案可能不一致&lt;/Text&gt;&#10;        &lt;/Box&gt;&#10;      &lt;/Box&gt;&#10;      &lt;Box style={{ flex: 1, padding: 28, background: '#F0F9FF', border: '1px solid #7AB8E8', borderRadius: 12, flexDirection: 'column', gap: 20 }}&gt;&#10;        &lt;Box style={{ flexDirection: 'row', alignItems: 'center', gap: 12 }}&gt;&#10;          &lt;FAIcon name='check-circle' style={{ fill: '#1E4FA8', width: 36, height: 36 }} /&gt;&#10;          &lt;Text style={{ fontSize: 24, fontWeight: 'bold', color: '#0E3F8C' }}&gt;本系统&lt;/Text&gt;&#10;        &lt;/Box&gt;&#10;        &lt;Box style={{ flexDirection: 'row', alignItems: 'center', gap: 10, flexWrap: 'wrap' }}&gt;&#10;          &lt;Box style={{ padding: '10px 14px', background: '#FFFFFF', border: '1px solid #D6DCE5', borderRadius: 8 }}&gt;&#10;            &lt;Text style={{ fontSize: 16, color: '#1A2230' }}&gt;题目&lt;/Text&gt;&#10;          &lt;/Box&gt;&#10;          &lt;FAIcon name='arrow-right' style={{ fill: '#1E4FA8', width: 24, height: 24 }} /&gt;&#10;          &lt;Box style={{ padding: '10px 14px', background: '#E8EFF8', border: '1px solid #1E4FA8', borderRadius: 8 }}&gt;&#10;            &lt;Text style={{ fontSize: 16, color: '#0E3F8C', fontWeight: 'bold' }}&gt;输出编号 12&lt;/Text&gt;&#10;          &lt;/Box&gt;&#10;          &lt;FAIcon name='arrow-right' style={{ fill: '#1E4FA8', width: 24, height: 24 }} /&gt;&#10;          &lt;Box style={{ padding: '10px 14px', background: '#FFFFFF', border: '1px solid #D6DCE5', borderRadius: 8 }}&gt;&#10;            &lt;Text style={{ fontSize: 16, color: '#1A2230' }}&gt;程序查表&lt;/Text&gt;&#10;          &lt;/Box&gt;&#10;          &lt;FAIcon name='arrow-right' style={{ fill: '#1E4FA8', width: 24, height: 24 }} /&gt;&#10;          &lt;Box style={{ padding: '10px 14px', background: '#0E3F8C', borderRadius: 8 }}&gt;&#10;            &lt;Text style={{ fontSize: 16, color: '#FFFFFF', fontWeight: 'bold' }}&gt;精确公式&lt;/Text&gt;&#10;          &lt;/Box&gt;&#10;        &lt;/Box&gt;&#10;        &lt;Text style={{ fontSize: 18, color: '#1A2230', lineHeight: 1.6 }}&gt;确定性交给程序，灵活性交给模型，各取所长。&lt;/Text&gt;&#10;        &lt;Box style={{ flexDirection: 'column', gap: 10, marginTop: 'auto' }}&gt;&#10;          &lt;Text style={{ fontSize: 16, color: '#4A5568' }}&gt;✓ 50 条公式人工精编，存 SQLite&lt;/Text&gt;&#10;          &lt;Text style={{ fontSize: 16, color: '#4A5568' }}&gt;✓ 编号候选注入提示词，模型只“选”不“编”&lt;/Text&gt;&#10;          &lt;Text style={{ fontSize: 16, color: '#4A5568' }}&gt;✓ 别名表兜底，“矩形面积”也能命中&lt;/Text&gt;&#10;        &lt;/Box&gt;&#10;      &lt;/Box&gt;&#10;    &lt;/Box&gt;&#10;    &lt;Box style={{ height: 72, padding: '0 40', flexDirection: 'row', justifyContent: 'space-between', alignItems: 'center', background: '#F7F9FC' }}&gt;&#10;      &lt;Text style={{ fontSize: 14, color: '#8B97A8' }}&gt;MathGuide · 本地化小学数学启发式辅导系统&lt;/Text&gt;&#10;      &lt;Text style={{ fontSize: 16, fontWeight: 'bold', color: '#0E3F8C' }}&gt;07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/>
          <p:cNvSpPr/>
          <p:nvPr/>
        </p:nvSpPr>
        <p:spPr>
          <a:xfrm>
            <a:off x="-1" y="893"/>
            <a:ext cx="12188825" cy="685621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156" name="矩形 155"/>
          <p:cNvSpPr/>
          <p:nvPr/>
        </p:nvSpPr>
        <p:spPr>
          <a:xfrm>
            <a:off x="-1" y="893"/>
            <a:ext cx="12188825" cy="685621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380901" y="181821"/>
            <a:ext cx="11427023" cy="323766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099" b="1">
                <a:solidFill>
                  <a:srgbClr val="FFFFFF"/>
                </a:solidFill>
                <a:latin typeface="Microsoft YaHei"/>
                <a:ea typeface="Microsoft YaHei"/>
              </a:rPr>
              <a:t>公式检索：编号定位与别名兜底</a:t>
            </a:r>
            <a:endParaRPr sz="1799"/>
          </a:p>
        </p:txBody>
      </p:sp>
      <p:sp>
        <p:nvSpPr>
          <p:cNvPr id="158" name="矩形: 圆角 157"/>
          <p:cNvSpPr/>
          <p:nvPr/>
        </p:nvSpPr>
        <p:spPr>
          <a:xfrm>
            <a:off x="380901" y="991235"/>
            <a:ext cx="5580196" cy="4951710"/>
          </a:xfrm>
          <a:prstGeom prst="roundRect">
            <a:avLst>
              <a:gd name="adj" fmla="val 2308"/>
            </a:avLst>
          </a:prstGeom>
          <a:solidFill>
            <a:srgbClr val="FEF2F2"/>
          </a:solidFill>
          <a:ln w="12700">
            <a:solidFill>
              <a:srgbClr val="F5A0A0"/>
            </a:solidFill>
            <a:prstDash val="solid"/>
          </a:ln>
        </p:spPr>
        <p:txBody>
          <a:bodyPr/>
          <a:lstStyle/>
          <a:p>
            <a:endParaRPr sz="1799"/>
          </a:p>
        </p:txBody>
      </p:sp>
      <p:pic>
        <p:nvPicPr>
          <p:cNvPr id="159" name="图形 1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531" y="1257865"/>
            <a:ext cx="342811" cy="342811"/>
          </a:xfrm>
          <a:prstGeom prst="rect">
            <a:avLst/>
          </a:prstGeom>
          <a:ln/>
        </p:spPr>
      </p:pic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1104612" y="1295956"/>
            <a:ext cx="914162" cy="27615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799" b="1">
                <a:solidFill>
                  <a:srgbClr val="D9534F"/>
                </a:solidFill>
                <a:latin typeface="Microsoft YaHei"/>
                <a:ea typeface="Microsoft YaHei"/>
              </a:rPr>
              <a:t>直接生成</a:t>
            </a:r>
            <a:endParaRPr sz="1799"/>
          </a:p>
        </p:txBody>
      </p:sp>
      <p:sp>
        <p:nvSpPr>
          <p:cNvPr id="161" name="矩形: 圆角 160"/>
          <p:cNvSpPr/>
          <p:nvPr/>
        </p:nvSpPr>
        <p:spPr>
          <a:xfrm>
            <a:off x="647531" y="1791127"/>
            <a:ext cx="609441" cy="38090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sz="1799"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799891" y="1886352"/>
            <a:ext cx="304721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>
                <a:solidFill>
                  <a:srgbClr val="1A2230"/>
                </a:solidFill>
                <a:latin typeface="Microsoft YaHei"/>
                <a:ea typeface="Microsoft YaHei"/>
              </a:rPr>
              <a:t>题目</a:t>
            </a:r>
            <a:endParaRPr sz="1799"/>
          </a:p>
        </p:txBody>
      </p:sp>
      <p:pic>
        <p:nvPicPr>
          <p:cNvPr id="163" name="图形 16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243" y="1867307"/>
            <a:ext cx="228540" cy="228540"/>
          </a:xfrm>
          <a:prstGeom prst="rect">
            <a:avLst/>
          </a:prstGeom>
          <a:ln/>
        </p:spPr>
      </p:pic>
      <p:sp>
        <p:nvSpPr>
          <p:cNvPr id="164" name="矩形: 圆角 163"/>
          <p:cNvSpPr/>
          <p:nvPr/>
        </p:nvSpPr>
        <p:spPr>
          <a:xfrm>
            <a:off x="1714053" y="1791127"/>
            <a:ext cx="761802" cy="38090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sz="1799"/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1866413" y="1886352"/>
            <a:ext cx="457081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>
                <a:solidFill>
                  <a:srgbClr val="1A2230"/>
                </a:solidFill>
                <a:latin typeface="Microsoft YaHei"/>
                <a:ea typeface="Microsoft YaHei"/>
              </a:rPr>
              <a:t>大模型</a:t>
            </a:r>
            <a:endParaRPr sz="1799"/>
          </a:p>
        </p:txBody>
      </p:sp>
      <p:pic>
        <p:nvPicPr>
          <p:cNvPr id="166" name="图形 16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0125" y="1867307"/>
            <a:ext cx="228540" cy="228540"/>
          </a:xfrm>
          <a:prstGeom prst="rect">
            <a:avLst/>
          </a:prstGeom>
          <a:ln/>
        </p:spPr>
      </p:pic>
      <p:sp>
        <p:nvSpPr>
          <p:cNvPr id="167" name="矩形: 圆角 166"/>
          <p:cNvSpPr/>
          <p:nvPr/>
        </p:nvSpPr>
        <p:spPr>
          <a:xfrm>
            <a:off x="2932935" y="1791127"/>
            <a:ext cx="761802" cy="38090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sz="1799"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3085296" y="1886352"/>
            <a:ext cx="457081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>公式？</a:t>
            </a:r>
            <a:endParaRPr sz="1799"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647531" y="2362478"/>
            <a:ext cx="5046935" cy="333288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altLang="en-US" sz="1350">
                <a:solidFill>
                  <a:srgbClr val="1A2230"/>
                </a:solidFill>
                <a:latin typeface="Microsoft YaHei"/>
                <a:ea typeface="Microsoft YaHei"/>
              </a:rPr>
              <a:t>公式来源需要核验，生成内容可能偏离教材。</a:t>
            </a:r>
            <a:endParaRPr sz="1799"/>
          </a:p>
        </p:txBody>
      </p:sp>
      <p:sp>
        <p:nvSpPr>
          <p:cNvPr id="173" name="矩形: 圆角 172"/>
          <p:cNvSpPr/>
          <p:nvPr/>
        </p:nvSpPr>
        <p:spPr>
          <a:xfrm>
            <a:off x="6227727" y="991235"/>
            <a:ext cx="5580196" cy="4951710"/>
          </a:xfrm>
          <a:prstGeom prst="roundRect">
            <a:avLst>
              <a:gd name="adj" fmla="val 2308"/>
            </a:avLst>
          </a:prstGeom>
          <a:solidFill>
            <a:srgbClr val="F0F9FF"/>
          </a:solidFill>
          <a:ln w="12700">
            <a:solidFill>
              <a:srgbClr val="7AB8E8"/>
            </a:solidFill>
            <a:prstDash val="solid"/>
          </a:ln>
        </p:spPr>
        <p:txBody>
          <a:bodyPr/>
          <a:lstStyle/>
          <a:p>
            <a:endParaRPr sz="1799"/>
          </a:p>
        </p:txBody>
      </p:sp>
      <p:pic>
        <p:nvPicPr>
          <p:cNvPr id="174" name="图形 17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4358" y="1257865"/>
            <a:ext cx="342811" cy="342811"/>
          </a:xfrm>
          <a:prstGeom prst="rect">
            <a:avLst/>
          </a:prstGeom>
          <a:ln/>
        </p:spPr>
      </p:pic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6951439" y="1295956"/>
            <a:ext cx="685621" cy="27615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799" b="1">
                <a:solidFill>
                  <a:srgbClr val="0E3F8C"/>
                </a:solidFill>
                <a:latin typeface="Microsoft YaHei"/>
                <a:ea typeface="Microsoft YaHei"/>
              </a:rPr>
              <a:t>检索方案</a:t>
            </a:r>
            <a:endParaRPr sz="1799"/>
          </a:p>
        </p:txBody>
      </p:sp>
      <p:sp>
        <p:nvSpPr>
          <p:cNvPr id="176" name="矩形: 圆角 175"/>
          <p:cNvSpPr/>
          <p:nvPr/>
        </p:nvSpPr>
        <p:spPr>
          <a:xfrm>
            <a:off x="6494358" y="1791127"/>
            <a:ext cx="571351" cy="38090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sz="1799"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6627673" y="1886352"/>
            <a:ext cx="304721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>
                <a:solidFill>
                  <a:srgbClr val="1A2230"/>
                </a:solidFill>
                <a:latin typeface="Microsoft YaHei"/>
                <a:ea typeface="Microsoft YaHei"/>
              </a:rPr>
              <a:t>题目</a:t>
            </a:r>
            <a:endParaRPr sz="1799"/>
          </a:p>
        </p:txBody>
      </p:sp>
      <p:pic>
        <p:nvPicPr>
          <p:cNvPr id="178" name="图形 1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0934" y="1867307"/>
            <a:ext cx="228540" cy="228540"/>
          </a:xfrm>
          <a:prstGeom prst="rect">
            <a:avLst/>
          </a:prstGeom>
          <a:ln/>
        </p:spPr>
      </p:pic>
      <p:sp>
        <p:nvSpPr>
          <p:cNvPr id="179" name="矩形: 圆角 178"/>
          <p:cNvSpPr/>
          <p:nvPr/>
        </p:nvSpPr>
        <p:spPr>
          <a:xfrm>
            <a:off x="7484700" y="1791127"/>
            <a:ext cx="1114135" cy="380901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 sz="1799"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7618016" y="1886352"/>
            <a:ext cx="847504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输出编号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12</a:t>
            </a:r>
            <a:endParaRPr sz="1799"/>
          </a:p>
        </p:txBody>
      </p:sp>
      <p:pic>
        <p:nvPicPr>
          <p:cNvPr id="181" name="图形 1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4060" y="1867307"/>
            <a:ext cx="228540" cy="228540"/>
          </a:xfrm>
          <a:prstGeom prst="rect">
            <a:avLst/>
          </a:prstGeom>
          <a:ln/>
        </p:spPr>
      </p:pic>
      <p:sp>
        <p:nvSpPr>
          <p:cNvPr id="182" name="矩形: 圆角 181"/>
          <p:cNvSpPr/>
          <p:nvPr/>
        </p:nvSpPr>
        <p:spPr>
          <a:xfrm>
            <a:off x="9017825" y="1791127"/>
            <a:ext cx="876072" cy="38090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sz="1799"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9151141" y="1886352"/>
            <a:ext cx="609441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>
                <a:solidFill>
                  <a:srgbClr val="1A2230"/>
                </a:solidFill>
                <a:latin typeface="Microsoft YaHei"/>
                <a:ea typeface="Microsoft YaHei"/>
              </a:rPr>
              <a:t>程序查表</a:t>
            </a:r>
            <a:endParaRPr sz="1799"/>
          </a:p>
        </p:txBody>
      </p:sp>
      <p:pic>
        <p:nvPicPr>
          <p:cNvPr id="184" name="图形 18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9123" y="1867307"/>
            <a:ext cx="228540" cy="228540"/>
          </a:xfrm>
          <a:prstGeom prst="rect">
            <a:avLst/>
          </a:prstGeom>
          <a:ln/>
        </p:spPr>
      </p:pic>
      <p:sp>
        <p:nvSpPr>
          <p:cNvPr id="185" name="矩形: 圆角 184"/>
          <p:cNvSpPr/>
          <p:nvPr/>
        </p:nvSpPr>
        <p:spPr>
          <a:xfrm>
            <a:off x="10312888" y="1791127"/>
            <a:ext cx="876072" cy="380901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0446204" y="1886352"/>
            <a:ext cx="609441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精确公式</a:t>
            </a:r>
            <a:endParaRPr sz="1799"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6494358" y="2362478"/>
            <a:ext cx="5046935" cy="333288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altLang="en-US" sz="1350">
                <a:solidFill>
                  <a:srgbClr val="1A2230"/>
                </a:solidFill>
                <a:latin typeface="Microsoft YaHei"/>
                <a:ea typeface="Microsoft YaHei"/>
              </a:rPr>
              <a:t>按 </a:t>
            </a:r>
            <a:r>
              <a:rPr lang="en-US" altLang="zh-CN" sz="1350">
                <a:solidFill>
                  <a:srgbClr val="1A2230"/>
                </a:solidFill>
                <a:latin typeface="Microsoft YaHei"/>
                <a:ea typeface="Microsoft YaHei"/>
              </a:rPr>
              <a:t>ID </a:t>
            </a:r>
            <a:r>
              <a:rPr lang="zh-CN" altLang="en-US" sz="1350">
                <a:solidFill>
                  <a:srgbClr val="1A2230"/>
                </a:solidFill>
                <a:latin typeface="Microsoft YaHei"/>
                <a:ea typeface="Microsoft YaHei"/>
              </a:rPr>
              <a:t>查库，失败用别名兜底，公式卡片注入辅导提示词。</a:t>
            </a:r>
            <a:endParaRPr sz="1799"/>
          </a:p>
        </p:txBody>
      </p:sp>
      <p:sp>
        <p:nvSpPr>
          <p:cNvPr id="191" name="矩形 190"/>
          <p:cNvSpPr/>
          <p:nvPr/>
        </p:nvSpPr>
        <p:spPr>
          <a:xfrm>
            <a:off x="-1" y="6171486"/>
            <a:ext cx="12188825" cy="685621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sz="1799"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380901" y="6438117"/>
            <a:ext cx="2694873" cy="16188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MathGuide · </a:t>
            </a:r>
            <a:r>
              <a:rPr lang="zh-CN" altLang="en-US" sz="1050">
                <a:solidFill>
                  <a:srgbClr val="8B97A8"/>
                </a:solidFill>
                <a:latin typeface="Microsoft YaHei"/>
                <a:ea typeface="Microsoft YaHei"/>
              </a:rPr>
              <a:t>本地化小学数学启发式辅导系统</a:t>
            </a:r>
            <a:endParaRPr sz="1799"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11265140" y="6419071"/>
            <a:ext cx="542784" cy="190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07 / 14</a:t>
            </a:r>
            <a:endParaRPr sz="1799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E09BA2-09D7-37B8-2566-4ABFA2BDAD89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954" y="3022706"/>
            <a:ext cx="7998916" cy="34027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隐私与安全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数据不出本机 · 学校用得放心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029200" cy="3749039"/>
          </a:xfrm>
          <a:prstGeom prst="roundRect">
            <a:avLst>
              <a:gd name="adj" fmla="val 6000"/>
            </a:avLst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</a:rPr>
              <a:t>三大承诺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114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icrosoft YaHei"/>
              </a:rPr>
              <a:t>教育数据敏感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Microsoft YaHei"/>
              </a:rPr>
              <a:t>学生隐私无价</a:t>
            </a:r>
          </a:p>
          <a:p>
            <a:pPr algn="l"/>
            <a:endParaRPr sz="1800" b="0" i="0">
              <a:solidFill>
                <a:srgbClr val="FFFFFF"/>
              </a:solidFill>
              <a:latin typeface="Microsoft YaHei"/>
            </a:endParaRPr>
          </a:p>
          <a:p>
            <a:pPr algn="l"/>
            <a:r>
              <a:rPr sz="1800" b="0" i="0">
                <a:solidFill>
                  <a:srgbClr val="FFFFFF"/>
                </a:solidFill>
                <a:latin typeface="Microsoft YaHei"/>
              </a:rPr>
              <a:t>我们的答案：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Microsoft YaHei"/>
              </a:rPr>
              <a:t>把一切留在学校自己的电脑里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103120"/>
            <a:ext cx="597103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0" y="2103120"/>
            <a:ext cx="597103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2212848"/>
            <a:ext cx="5422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全本地运行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606040"/>
            <a:ext cx="5422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Ollama 模型、RapidOCR、SQLite 全部在本机</a:t>
            </a:r>
          </a:p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不需要联网，不需要 GPU 服务器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383280"/>
            <a:ext cx="597103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0720" y="3383280"/>
            <a:ext cx="597103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3493008"/>
            <a:ext cx="5422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零数据上传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886200"/>
            <a:ext cx="5422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学生的错题、对话、学习记录</a:t>
            </a:r>
          </a:p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不上传到任何第三方服务器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663440"/>
            <a:ext cx="597103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0" y="4663440"/>
            <a:ext cx="5971032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4773168"/>
            <a:ext cx="5422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4FA8"/>
                </a:solidFill>
                <a:latin typeface="Microsoft YaHei"/>
              </a:rPr>
              <a:t>零 API 费用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166360"/>
            <a:ext cx="5422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使用开源 Qwen2.5-3B 模型</a:t>
            </a:r>
          </a:p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学校按设备部署，不按调用付费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12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实施计划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3 个月 · 三阶段推进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0360152" cy="36576"/>
          </a:xfrm>
          <a:prstGeom prst="rect">
            <a:avLst/>
          </a:prstGeom>
          <a:solidFill>
            <a:srgbClr val="8B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89988" y="2788920"/>
            <a:ext cx="822960" cy="822960"/>
          </a:xfrm>
          <a:prstGeom prst="ellipse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89988" y="29260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M1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" y="384048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9828" y="3840480"/>
            <a:ext cx="338328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38428" y="39776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Microsoft YaHei"/>
              </a:rPr>
              <a:t>第 1-4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" y="4297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4FA8"/>
                </a:solidFill>
                <a:latin typeface="Microsoft YaHei"/>
              </a:rPr>
              <a:t>核心辅导功能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" y="484632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完成 6 大题型的引导准确性</a:t>
            </a:r>
          </a:p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题库覆盖 50 条知识点</a:t>
            </a:r>
          </a:p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启发式对话全流程打通</a:t>
            </a:r>
          </a:p>
        </p:txBody>
      </p:sp>
      <p:sp>
        <p:nvSpPr>
          <p:cNvPr id="13" name="Oval 12"/>
          <p:cNvSpPr/>
          <p:nvPr/>
        </p:nvSpPr>
        <p:spPr>
          <a:xfrm>
            <a:off x="5682996" y="2788920"/>
            <a:ext cx="822960" cy="822960"/>
          </a:xfrm>
          <a:prstGeom prst="ellipse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82996" y="29260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M2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2836" y="384048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02836" y="3840480"/>
            <a:ext cx="338328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1436" y="39776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Microsoft YaHei"/>
              </a:rPr>
              <a:t>第 5-8 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1436" y="4297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4FA8"/>
                </a:solidFill>
                <a:latin typeface="Microsoft YaHei"/>
              </a:rPr>
              <a:t>学习档案 + 专项练习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1436" y="484632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错题完整记录与回放</a:t>
            </a:r>
          </a:p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薄弱点自动统计</a:t>
            </a:r>
          </a:p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变式出题与判分闭环</a:t>
            </a:r>
          </a:p>
        </p:txBody>
      </p:sp>
      <p:sp>
        <p:nvSpPr>
          <p:cNvPr id="20" name="Oval 19"/>
          <p:cNvSpPr/>
          <p:nvPr/>
        </p:nvSpPr>
        <p:spPr>
          <a:xfrm>
            <a:off x="9176004" y="2788920"/>
            <a:ext cx="822960" cy="822960"/>
          </a:xfrm>
          <a:prstGeom prst="ellipse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76004" y="29260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M3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384048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95844" y="3840480"/>
            <a:ext cx="338328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4444" y="39776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Microsoft YaHei"/>
              </a:rPr>
              <a:t>第 9-12 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4444" y="4297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4FA8"/>
                </a:solidFill>
                <a:latin typeface="Microsoft YaHei"/>
              </a:rPr>
              <a:t>知识诊断 + 试点验收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4444" y="484632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实时知识点识别</a:t>
            </a:r>
          </a:p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动态切卡与年级标注</a:t>
            </a:r>
          </a:p>
          <a:p>
            <a:pPr algn="l"/>
            <a:r>
              <a:rPr sz="1200" b="0" i="0">
                <a:solidFill>
                  <a:srgbClr val="1A2230"/>
                </a:solidFill>
                <a:latin typeface="Microsoft YaHei"/>
              </a:rPr>
              <a:t>完成一个班级 4 周试点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13 / 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里程碑交付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每阶段都可检查的具体产物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" y="228600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0916" y="228600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" y="24688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Microsoft YaHei"/>
              </a:rPr>
              <a:t>M1 结束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" y="28346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4FA8"/>
                </a:solidFill>
                <a:latin typeface="Microsoft YaHei"/>
              </a:rPr>
              <a:t>可用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347472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能完成一道题的完整辅导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支持文字输入与拍照识别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覆盖 50 条知识点的题库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附 100+ 单元测试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1396" y="228600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1396" y="228600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5716" y="24688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Microsoft YaHei"/>
              </a:rPr>
              <a:t>M2 结束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716" y="28346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4FA8"/>
                </a:solidFill>
                <a:latin typeface="Microsoft YaHei"/>
              </a:rPr>
              <a:t>完整产品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716" y="347472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学习档案与对话回放上线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专项练习闭环可用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薄弱点统计可视化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附使用手册与运维文档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1876" y="228600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51876" y="228600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26196" y="24688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Microsoft YaHei"/>
              </a:rPr>
              <a:t>M3 结束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6196" y="28346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4FA8"/>
                </a:solidFill>
                <a:latin typeface="Microsoft YaHei"/>
              </a:rPr>
              <a:t>试点报告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6196" y="347472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一个班级 4 周真实使用数据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学生掌握度统计报告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家长与老师反馈收集</a:t>
            </a:r>
          </a:p>
          <a:p>
            <a:pPr algn="l"/>
            <a:r>
              <a:rPr sz="1300" b="0" i="0">
                <a:solidFill>
                  <a:srgbClr val="1A2230"/>
                </a:solidFill>
                <a:latin typeface="Microsoft YaHei"/>
              </a:rPr>
              <a:t>下一阶段扩展计划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14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4FA8"/>
                </a:solidFill>
                <a:latin typeface="Microsoft YaHei"/>
              </a:rPr>
              <a:t>预期成效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Microsoft YaHei"/>
              </a:rPr>
              <a:t>学生 / 家长 / 老师三方共赢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" y="22860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0916" y="228600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" y="25603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4FA8"/>
                </a:solidFill>
                <a:latin typeface="Microsoft YaHei"/>
              </a:rPr>
              <a:t>学生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" y="315468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错题真正想通</a:t>
            </a:r>
          </a:p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不再重复犯同样的错</a:t>
            </a:r>
          </a:p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学会思考而不是抄答案</a:t>
            </a:r>
          </a:p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建立数学自信心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1396" y="22860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1396" y="228600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5716" y="25603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4FA8"/>
                </a:solidFill>
                <a:latin typeface="Microsoft YaHei"/>
              </a:rPr>
              <a:t>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716" y="315468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省心省力</a:t>
            </a:r>
          </a:p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不用陪写作业到深夜</a:t>
            </a:r>
          </a:p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看清孩子的真实薄弱点</a:t>
            </a:r>
          </a:p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不用花高昂的课外班费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1876" y="22860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51876" y="2286000"/>
            <a:ext cx="3566160" cy="73152"/>
          </a:xfrm>
          <a:prstGeom prst="rect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6196" y="25603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4FA8"/>
                </a:solidFill>
                <a:latin typeface="Microsoft YaHei"/>
              </a:rPr>
              <a:t>老师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6196" y="315468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看清每个学生的薄弱点</a:t>
            </a:r>
          </a:p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精准布置个性化作业</a:t>
            </a:r>
          </a:p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节省批改和答疑时间</a:t>
            </a:r>
          </a:p>
          <a:p>
            <a:pPr algn="l"/>
            <a:r>
              <a:rPr sz="1400" b="0" i="0">
                <a:solidFill>
                  <a:srgbClr val="1A2230"/>
                </a:solidFill>
                <a:latin typeface="Microsoft YaHei"/>
              </a:rPr>
              <a:t>把精力放在教学设计上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15 /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4A5568"/>
                </a:solidFill>
                <a:latin typeface="Microsoft YaHei"/>
              </a:rPr>
              <a:t>MathGuide · 项目计划书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9004" y="1228526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 dirty="0" err="1">
                <a:solidFill>
                  <a:srgbClr val="FFFFFF"/>
                </a:solidFill>
                <a:latin typeface="Microsoft YaHei"/>
              </a:rPr>
              <a:t>好的教育</a:t>
            </a:r>
            <a:r>
              <a:rPr sz="4000" b="1" i="0" dirty="0">
                <a:solidFill>
                  <a:srgbClr val="FFFFFF"/>
                </a:solidFill>
                <a:latin typeface="Microsoft YaHei"/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004" y="2234366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 dirty="0" err="1">
                <a:solidFill>
                  <a:srgbClr val="FFFFFF"/>
                </a:solidFill>
                <a:latin typeface="Microsoft YaHei"/>
              </a:rPr>
              <a:t>不是替学生思考，而是教学生思考</a:t>
            </a:r>
            <a:endParaRPr sz="4000" b="1" i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9004" y="43434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dirty="0" err="1">
                <a:solidFill>
                  <a:srgbClr val="CADCFC"/>
                </a:solidFill>
                <a:latin typeface="Microsoft YaHei"/>
              </a:rPr>
              <a:t>启发式</a:t>
            </a:r>
            <a:r>
              <a:rPr sz="2000" b="0" i="0" dirty="0">
                <a:solidFill>
                  <a:srgbClr val="CADCFC"/>
                </a:solidFill>
                <a:latin typeface="Microsoft YaHei"/>
              </a:rPr>
              <a:t> · </a:t>
            </a:r>
            <a:r>
              <a:rPr sz="2000" b="0" i="0" dirty="0" err="1">
                <a:solidFill>
                  <a:srgbClr val="CADCFC"/>
                </a:solidFill>
                <a:latin typeface="Microsoft YaHei"/>
              </a:rPr>
              <a:t>零幻觉</a:t>
            </a:r>
            <a:r>
              <a:rPr sz="2000" b="0" i="0" dirty="0">
                <a:solidFill>
                  <a:srgbClr val="CADCFC"/>
                </a:solidFill>
                <a:latin typeface="Microsoft YaHei"/>
              </a:rPr>
              <a:t> · </a:t>
            </a:r>
            <a:r>
              <a:rPr sz="2000" b="0" i="0" dirty="0" err="1">
                <a:solidFill>
                  <a:srgbClr val="CADCFC"/>
                </a:solidFill>
                <a:latin typeface="Microsoft YaHei"/>
              </a:rPr>
              <a:t>全离线</a:t>
            </a:r>
            <a:r>
              <a:rPr sz="2000" b="0" i="0" dirty="0">
                <a:solidFill>
                  <a:srgbClr val="CADCFC"/>
                </a:solidFill>
                <a:latin typeface="Microsoft YaHei"/>
              </a:rPr>
              <a:t> · </a:t>
            </a:r>
            <a:r>
              <a:rPr sz="2000" b="0" i="0" dirty="0" err="1">
                <a:solidFill>
                  <a:srgbClr val="CADCFC"/>
                </a:solidFill>
                <a:latin typeface="Microsoft YaHei"/>
              </a:rPr>
              <a:t>有档案</a:t>
            </a:r>
            <a:endParaRPr sz="2000" b="0" i="0" dirty="0">
              <a:solidFill>
                <a:srgbClr val="CADCFC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136" y="603504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dirty="0" err="1">
                <a:solidFill>
                  <a:srgbClr val="FFFFFF"/>
                </a:solidFill>
                <a:latin typeface="Microsoft YaHei"/>
              </a:rPr>
              <a:t>谢谢聆听</a:t>
            </a:r>
            <a:r>
              <a:rPr sz="1800" b="0" i="0" dirty="0">
                <a:solidFill>
                  <a:srgbClr val="FFFFFF"/>
                </a:solidFill>
                <a:latin typeface="Microsoft YaHei"/>
              </a:rPr>
              <a:t> · </a:t>
            </a:r>
            <a:r>
              <a:rPr sz="1800" b="0" i="0" dirty="0" err="1">
                <a:solidFill>
                  <a:srgbClr val="FFFFFF"/>
                </a:solidFill>
                <a:latin typeface="Microsoft YaHei"/>
              </a:rPr>
              <a:t>请批评指正</a:t>
            </a:r>
            <a:endParaRPr sz="1800" b="0" i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B36E63A-AED8-6E3F-F739-76A1F23EB323}"/>
              </a:ext>
            </a:extLst>
          </p:cNvPr>
          <p:cNvSpPr/>
          <p:nvPr/>
        </p:nvSpPr>
        <p:spPr>
          <a:xfrm>
            <a:off x="3886200" y="5269629"/>
            <a:ext cx="933450" cy="400050"/>
          </a:xfrm>
          <a:prstGeom prst="roundRect">
            <a:avLst>
              <a:gd name="adj" fmla="val 5714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文本框 9" descr="{&quot;isTemplate&quot;:true,&quot;type&quot;:&quot;text&quot;}">
            <a:extLst>
              <a:ext uri="{FF2B5EF4-FFF2-40B4-BE49-F238E27FC236}">
                <a16:creationId xmlns:a16="http://schemas.microsoft.com/office/drawing/2014/main" id="{E24F4F67-4489-1C20-D068-9818A86845DB}"/>
              </a:ext>
            </a:extLst>
          </p:cNvPr>
          <p:cNvSpPr txBox="1"/>
          <p:nvPr/>
        </p:nvSpPr>
        <p:spPr>
          <a:xfrm>
            <a:off x="4024867" y="5364879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350" b="1" dirty="0">
                <a:solidFill>
                  <a:srgbClr val="FFFFFF"/>
                </a:solidFill>
                <a:latin typeface="Microsoft YaHei"/>
                <a:ea typeface="Microsoft YaHei"/>
              </a:rPr>
              <a:t>题目辅导</a:t>
            </a:r>
            <a:endParaRPr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C63C905-7EE9-8A80-7465-1D448D2E9932}"/>
              </a:ext>
            </a:extLst>
          </p:cNvPr>
          <p:cNvSpPr/>
          <p:nvPr/>
        </p:nvSpPr>
        <p:spPr>
          <a:xfrm>
            <a:off x="5048250" y="5269629"/>
            <a:ext cx="933450" cy="400050"/>
          </a:xfrm>
          <a:prstGeom prst="roundRect">
            <a:avLst>
              <a:gd name="adj" fmla="val 5714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>
            <a:extLst>
              <a:ext uri="{FF2B5EF4-FFF2-40B4-BE49-F238E27FC236}">
                <a16:creationId xmlns:a16="http://schemas.microsoft.com/office/drawing/2014/main" id="{314DCA2C-BF4A-972E-C102-287E86FA31A9}"/>
              </a:ext>
            </a:extLst>
          </p:cNvPr>
          <p:cNvSpPr txBox="1"/>
          <p:nvPr/>
        </p:nvSpPr>
        <p:spPr>
          <a:xfrm>
            <a:off x="5194005" y="5364879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350" b="1" dirty="0">
                <a:solidFill>
                  <a:srgbClr val="FFFFFF"/>
                </a:solidFill>
                <a:latin typeface="Microsoft YaHei"/>
                <a:ea typeface="Microsoft YaHei"/>
              </a:rPr>
              <a:t>公式可查</a:t>
            </a:r>
            <a:endParaRPr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C79C83D-98E7-4D03-75D3-D60D711C1F35}"/>
              </a:ext>
            </a:extLst>
          </p:cNvPr>
          <p:cNvSpPr/>
          <p:nvPr/>
        </p:nvSpPr>
        <p:spPr>
          <a:xfrm>
            <a:off x="6210300" y="5269629"/>
            <a:ext cx="933450" cy="400050"/>
          </a:xfrm>
          <a:prstGeom prst="roundRect">
            <a:avLst>
              <a:gd name="adj" fmla="val 5714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文本框 17" descr="{&quot;isTemplate&quot;:true,&quot;type&quot;:&quot;text&quot;}">
            <a:extLst>
              <a:ext uri="{FF2B5EF4-FFF2-40B4-BE49-F238E27FC236}">
                <a16:creationId xmlns:a16="http://schemas.microsoft.com/office/drawing/2014/main" id="{D83179B5-ADD9-6E4D-1E30-F613E3770A96}"/>
              </a:ext>
            </a:extLst>
          </p:cNvPr>
          <p:cNvSpPr txBox="1"/>
          <p:nvPr/>
        </p:nvSpPr>
        <p:spPr>
          <a:xfrm>
            <a:off x="6356055" y="5370949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350" b="1" dirty="0">
                <a:solidFill>
                  <a:srgbClr val="FFFFFF"/>
                </a:solidFill>
                <a:latin typeface="Microsoft YaHei"/>
                <a:ea typeface="Microsoft YaHei"/>
              </a:rPr>
              <a:t>专项练习</a:t>
            </a:r>
            <a:endParaRPr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8D89EFD-AFE0-27B9-E888-3F183BE96A43}"/>
              </a:ext>
            </a:extLst>
          </p:cNvPr>
          <p:cNvSpPr/>
          <p:nvPr/>
        </p:nvSpPr>
        <p:spPr>
          <a:xfrm>
            <a:off x="7372350" y="5269629"/>
            <a:ext cx="933450" cy="400050"/>
          </a:xfrm>
          <a:prstGeom prst="roundRect">
            <a:avLst>
              <a:gd name="adj" fmla="val 5714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文本框 21" descr="{&quot;isTemplate&quot;:true,&quot;type&quot;:&quot;text&quot;}">
            <a:extLst>
              <a:ext uri="{FF2B5EF4-FFF2-40B4-BE49-F238E27FC236}">
                <a16:creationId xmlns:a16="http://schemas.microsoft.com/office/drawing/2014/main" id="{8E2B41F0-517C-FDF5-9A67-33F0AECDBD1D}"/>
              </a:ext>
            </a:extLst>
          </p:cNvPr>
          <p:cNvSpPr txBox="1"/>
          <p:nvPr/>
        </p:nvSpPr>
        <p:spPr>
          <a:xfrm>
            <a:off x="7525193" y="5364879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350" b="1" dirty="0">
                <a:solidFill>
                  <a:srgbClr val="FFFFFF"/>
                </a:solidFill>
                <a:latin typeface="Microsoft YaHei"/>
                <a:ea typeface="Microsoft YaHei"/>
              </a:rPr>
              <a:t>学习档案</a:t>
            </a:r>
            <a:endParaRPr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0699BF-EE3A-B23F-646F-7A9E91E2E785}"/>
              </a:ext>
            </a:extLst>
          </p:cNvPr>
          <p:cNvSpPr/>
          <p:nvPr/>
        </p:nvSpPr>
        <p:spPr>
          <a:xfrm>
            <a:off x="5728291" y="4966734"/>
            <a:ext cx="7620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1516</Words>
  <Application>Microsoft Office PowerPoint</Application>
  <PresentationFormat>自定义</PresentationFormat>
  <Paragraphs>321</Paragraphs>
  <Slides>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等线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光 星</cp:lastModifiedBy>
  <cp:revision>5</cp:revision>
  <dcterms:created xsi:type="dcterms:W3CDTF">2013-01-27T09:14:16Z</dcterms:created>
  <dcterms:modified xsi:type="dcterms:W3CDTF">2026-10-15T05:11:17Z</dcterms:modified>
  <cp:category/>
</cp:coreProperties>
</file>